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5" r:id="rId4"/>
    <p:sldId id="266" r:id="rId5"/>
    <p:sldId id="267" r:id="rId6"/>
    <p:sldId id="259" r:id="rId7"/>
    <p:sldId id="261" r:id="rId8"/>
    <p:sldId id="262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DD"/>
    <a:srgbClr val="FEF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37"/>
    <p:restoredTop sz="82009"/>
  </p:normalViewPr>
  <p:slideViewPr>
    <p:cSldViewPr snapToGrid="0">
      <p:cViewPr>
        <p:scale>
          <a:sx n="69" d="100"/>
          <a:sy n="69" d="100"/>
        </p:scale>
        <p:origin x="163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9BF2C-5428-3640-845C-59D0C92670EE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4C4DF-B6E9-2946-AF1F-2367B52AD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90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</a:t>
            </a:r>
          </a:p>
          <a:p>
            <a:endParaRPr lang="en-US" dirty="0"/>
          </a:p>
          <a:p>
            <a:r>
              <a:rPr lang="en-US" dirty="0"/>
              <a:t>Intro – I created a package for menstrual cycle analysis</a:t>
            </a:r>
          </a:p>
          <a:p>
            <a:r>
              <a:rPr lang="en-US" dirty="0"/>
              <a:t>Main- use cases</a:t>
            </a:r>
          </a:p>
          <a:p>
            <a:r>
              <a:rPr lang="en-US" dirty="0"/>
              <a:t>Results- show off plots , describe what they mean – show one mood or similar and one heart rate</a:t>
            </a:r>
          </a:p>
          <a:p>
            <a:r>
              <a:rPr lang="en-US" dirty="0"/>
              <a:t>	-mention there are several others. </a:t>
            </a:r>
          </a:p>
          <a:p>
            <a:endParaRPr lang="en-US" dirty="0"/>
          </a:p>
          <a:p>
            <a:r>
              <a:rPr lang="en-US" dirty="0"/>
              <a:t>Package QR code at the corner on all pages</a:t>
            </a:r>
          </a:p>
          <a:p>
            <a:pPr marL="171450" indent="-171450">
              <a:buFontTx/>
              <a:buChar char="-"/>
            </a:pPr>
            <a:r>
              <a:rPr lang="en-US" dirty="0"/>
              <a:t>1 for package and one for blog.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Thank you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Have </a:t>
            </a:r>
            <a:r>
              <a:rPr lang="en-US" dirty="0" err="1"/>
              <a:t>linkedin</a:t>
            </a:r>
            <a:r>
              <a:rPr lang="en-US" dirty="0"/>
              <a:t> profile</a:t>
            </a:r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/>
              <a:t>20 seconds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4C4DF-B6E9-2946-AF1F-2367B52ADD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70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137BF-E4AC-9BA5-7ADE-818E0C90F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9FE63-38B2-F3F9-1836-CC3690380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B7199-632A-0566-B274-DC3CE335D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2796D-436B-7619-66CD-65915DF8F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4C4DF-B6E9-2946-AF1F-2367B52ADD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69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8989-FACC-D386-8C39-C2242103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ED906-FF02-0966-6145-769CB371A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9F511-DB06-B1D4-F287-E01C3D07A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6B6B1-3D30-1EE7-FF18-B175052CF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4C4DF-B6E9-2946-AF1F-2367B52ADD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49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9E681-48C9-9D41-4725-8C12E4CB9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3432F-EEA3-5F36-5F09-393599F3A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F6308-19BD-6F0A-1F55-1E539747D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B0BB0-9FE1-578E-056C-67EE9AE02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4C4DF-B6E9-2946-AF1F-2367B52ADD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18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F638-94C5-A210-4117-3E080449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17357-67AC-43E7-DD39-6D9A673C0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FF549-AD73-50B6-981D-6EF67F7C4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E0E76-EA56-ABB8-1EBB-E45C62A22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4C4DF-B6E9-2946-AF1F-2367B52ADD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2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4C4DF-B6E9-2946-AF1F-2367B52ADD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30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4C4DF-B6E9-2946-AF1F-2367B52ADD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14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</a:t>
            </a:r>
          </a:p>
          <a:p>
            <a:endParaRPr lang="en-US" dirty="0"/>
          </a:p>
          <a:p>
            <a:r>
              <a:rPr lang="en-US" dirty="0"/>
              <a:t>Part of a PHQ-8 questionnaire </a:t>
            </a:r>
          </a:p>
          <a:p>
            <a:r>
              <a:rPr lang="en-US" dirty="0"/>
              <a:t>Clinical marker of depression. </a:t>
            </a:r>
          </a:p>
          <a:p>
            <a:r>
              <a:rPr lang="en-US" dirty="0"/>
              <a:t>Note we found a significant relationship between both mood symptoms and heart rate data, so it opens up the option to passively estimate mood from a wearable.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4C4DF-B6E9-2946-AF1F-2367B52ADD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51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4C4DF-B6E9-2946-AF1F-2367B52ADD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21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30CA-73BA-C918-602C-E7C563F49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B4054-C326-5A47-D403-67F9AA8C7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4B5E2-8598-4D33-8EC6-C08BC0C4C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2283-2EA6-B088-E9BE-A8B04BD6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7F1B8-51C5-43AD-6C8B-30A8B836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9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3558-75D9-A1B8-5B89-61BFF389E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3BC3F-3EA2-154F-E989-0C637BE7D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0D75B-8F2C-8991-1114-06880529B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88AE9-A259-26A7-E07E-9DAC4C27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24FD5-8373-F490-6745-7757B6C6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98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2A9A-5E7A-1C62-9069-8D75668E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8CE82-48DC-AC7B-EBBB-CED6ED84B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F5D38-B02E-843B-8D64-DD442F4C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2859C-FA83-6398-6CB1-7AAE579BA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FFEFF-3983-7AC6-6816-EF8D36AF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5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5141E-6239-72DD-A24A-BBA69120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7498-2FAE-FA6B-A357-049FDA4DD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D8583-99B6-FE23-4DC3-2DA733504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C1308-B756-ABE4-0015-AC428495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2E8D9-C48D-15C7-2051-C14D77C70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3EA0D-DB15-054A-A192-7D57D701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35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5DC9-A58C-C560-CFCD-0109F72D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2C923-43EF-DE54-3C37-4DE5C53B2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495AA-7F95-B848-0034-CDB6D3E49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B08604-BB48-2044-6757-D19ADB337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42CFD-A1E6-C079-FF58-1B77ACB9D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3191D-1C5B-587E-E2AD-95875D29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972DD4-6321-3B3C-8269-928E43DD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575305-DE3C-ED24-D97E-5CCC1053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5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D3EC-EBBF-B002-363C-1D4515D3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2816A-060A-DD9D-AEC8-4A7BDDA6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35029-C076-8F24-1FEA-CFAC7D21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32298-5979-5201-62A0-B126663E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16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B19AF8-54AF-327A-3E15-03C75326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3B203-838A-FCE4-F826-24805CC7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0BE4A-83F4-D7F7-22BE-B969129D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4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D0B6-70DF-673D-58BF-507E2C47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D8863-945D-5A45-D02D-171D4E75A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DF5F8-865E-E76F-72BA-3E77AD0D8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6C04B-B41E-6B0C-B7CE-9067D75A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3839E-CC88-6509-9AD0-CC61A7BB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12B79-98D1-C930-B24C-3522150A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8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7D44-0CEC-95E8-B4C6-C6464C515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B71E5D-8FA0-EB10-B46D-84D8D439D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5041D-6749-28EA-A3B6-E8BB47294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8C98E-2A6C-A21B-7D65-722DB05DE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072BC-71AF-7628-8A40-1F07BFCE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70013-91DE-5C37-8AEB-3C5DB3E9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61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76ED-470A-B6C2-A182-79D83B71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0A9F3-86BC-62E5-4F6E-E6407162A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11D8E-0E97-3B84-19BE-0560D9AC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7675-90F4-92DB-5DD2-217D7AC5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720DE-F23D-A753-C247-7D849580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56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19CED-575C-13B2-5DE0-0FC09CCAD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AB248-2B2C-835A-7D98-DE1163E9E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C6F95-0124-3879-A09B-34C91933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8924D-5ABE-A5B0-9B6B-10B0700B5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8781-99FE-C454-68EE-CC618B53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42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6488B8-6567-6317-73B6-B138D917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A93B4-5AF2-F80F-807C-D0E14FBC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E89DA-76A8-473F-339C-B05E16B72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0793D-1E7C-7D40-B8FB-3F2A1DCEA7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2A7DC-BA7D-A869-1809-F90C15F30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A1E1-5A36-31C8-4F56-FE8FC2EDB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8C94C-896C-C44F-8AAF-8E2AEBF0F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057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784593D6-52CF-6B21-4D04-DEB503C6E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660" y="-49394"/>
            <a:ext cx="12457398" cy="69567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BA045E-9D9D-7518-6112-42C87E9C4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1041400"/>
            <a:ext cx="10372531" cy="2387600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Garamond" panose="02020404030301010803" pitchFamily="18" charset="0"/>
              </a:rPr>
              <a:t>Analysing</a:t>
            </a:r>
            <a:r>
              <a:rPr lang="en-US" b="1" dirty="0">
                <a:latin typeface="Garamond" panose="02020404030301010803" pitchFamily="18" charset="0"/>
              </a:rPr>
              <a:t> Effects of the Menstrual Cycle in Digital Health:</a:t>
            </a:r>
            <a:br>
              <a:rPr lang="en-US" b="1" dirty="0">
                <a:latin typeface="Garamond" panose="02020404030301010803" pitchFamily="18" charset="0"/>
              </a:rPr>
            </a:br>
            <a:r>
              <a:rPr lang="en-US" b="1" dirty="0">
                <a:latin typeface="Garamond" panose="02020404030301010803" pitchFamily="18" charset="0"/>
              </a:rPr>
              <a:t> Mental Health &amp; Heart Rate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FF842-5FF3-559B-DB76-73462404C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0918" y="4674673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Kyra Delray, Statistics PhD Student, University of Oxford</a:t>
            </a:r>
          </a:p>
          <a:p>
            <a:r>
              <a:rPr lang="en-US" dirty="0">
                <a:latin typeface="Garamond" panose="02020404030301010803" pitchFamily="18" charset="0"/>
              </a:rPr>
              <a:t>Data: Health Apps, Flo &amp; Juli</a:t>
            </a:r>
          </a:p>
          <a:p>
            <a:r>
              <a:rPr lang="en-US" dirty="0">
                <a:latin typeface="Garamond" panose="02020404030301010803" pitchFamily="18" charset="0"/>
              </a:rPr>
              <a:t>Funded by ESPRC (previously NIHR, UCL)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6CE9056-2DE4-F59C-0A94-6BA300520722}"/>
              </a:ext>
            </a:extLst>
          </p:cNvPr>
          <p:cNvSpPr txBox="1">
            <a:spLocks/>
          </p:cNvSpPr>
          <p:nvPr/>
        </p:nvSpPr>
        <p:spPr>
          <a:xfrm>
            <a:off x="1524000" y="3538608"/>
            <a:ext cx="9144000" cy="608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dirty="0" err="1">
                <a:latin typeface="Garamond" panose="02020404030301010803" pitchFamily="18" charset="0"/>
              </a:rPr>
              <a:t>MCAnalysis</a:t>
            </a:r>
            <a:r>
              <a:rPr lang="en-US" sz="2800" i="1" dirty="0">
                <a:latin typeface="Garamond" panose="02020404030301010803" pitchFamily="18" charset="0"/>
              </a:rPr>
              <a:t> Package on </a:t>
            </a:r>
            <a:r>
              <a:rPr lang="en-US" sz="2800" i="1" dirty="0" err="1">
                <a:latin typeface="Garamond" panose="02020404030301010803" pitchFamily="18" charset="0"/>
              </a:rPr>
              <a:t>Github</a:t>
            </a:r>
            <a:endParaRPr lang="en-US" sz="2800" i="1" dirty="0">
              <a:latin typeface="Garamond" panose="020204040303010108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5E3E7F-2A6D-693F-F4F1-725ED0B646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16" r="817"/>
          <a:stretch>
            <a:fillRect/>
          </a:stretch>
        </p:blipFill>
        <p:spPr>
          <a:xfrm>
            <a:off x="-18661" y="6151613"/>
            <a:ext cx="2519265" cy="75578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066545B-4E1C-944C-388A-2557775A3C25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12" name="Picture 11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8219DDF4-69F7-D906-82C8-0B13716EE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3B6731-4F2F-F864-5F97-0DF6F34E3F48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897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636DE-9977-DAF2-6634-42849796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BC6F51E8-DA47-378C-9D67-AD1A6D1F2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52" y="0"/>
            <a:ext cx="12262106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ED5F0-8299-B437-4022-4A5B70D9A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903"/>
            <a:ext cx="9332167" cy="3362195"/>
          </a:xfrm>
        </p:spPr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Women make up only 39% of physiology studies.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16CAC8-61DD-523E-5B2B-83F5A7BFDD00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18" name="Picture 17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3EC0736F-E5A5-B614-1B5C-EFBCE0280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F78B0BF-55A4-9ACD-10FA-B8910F52BD8E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CD483A68-E6F7-573A-C71E-8BE44C7D5E40}"/>
              </a:ext>
            </a:extLst>
          </p:cNvPr>
          <p:cNvSpPr txBox="1">
            <a:spLocks/>
          </p:cNvSpPr>
          <p:nvPr/>
        </p:nvSpPr>
        <p:spPr>
          <a:xfrm>
            <a:off x="1058934" y="229178"/>
            <a:ext cx="10515600" cy="1053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Garamond" panose="02020404030301010803" pitchFamily="18" charset="0"/>
              </a:rPr>
              <a:t>Introduction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60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2FDE-2E25-DCE9-F515-2CCE8975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0AE569C6-692F-0A92-09B3-D9CC9C1AF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52" y="0"/>
            <a:ext cx="12262106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BD0F7-246B-8207-E82C-DD657E4B9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903"/>
            <a:ext cx="9332167" cy="3362195"/>
          </a:xfrm>
        </p:spPr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Women make up only 39% of physiology studies. </a:t>
            </a:r>
          </a:p>
          <a:p>
            <a:r>
              <a:rPr lang="en-US" dirty="0">
                <a:latin typeface="Garamond" panose="02020404030301010803" pitchFamily="18" charset="0"/>
              </a:rPr>
              <a:t>Because of the need for better understanding of menstrual cycle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8257E89-5D9C-C16E-A3D9-665097ECB373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18" name="Picture 17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671F6E39-62DE-9176-58B1-A43EB8757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D593D4-C569-6D71-8EF0-68CA8DAA297C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A09EA934-47C4-4227-6C21-3830D1550E4B}"/>
              </a:ext>
            </a:extLst>
          </p:cNvPr>
          <p:cNvSpPr txBox="1">
            <a:spLocks/>
          </p:cNvSpPr>
          <p:nvPr/>
        </p:nvSpPr>
        <p:spPr>
          <a:xfrm>
            <a:off x="1058934" y="229178"/>
            <a:ext cx="10515600" cy="1053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Garamond" panose="02020404030301010803" pitchFamily="18" charset="0"/>
              </a:rPr>
              <a:t>Introduction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15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D293-1F33-8972-3C71-CA87C0E7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6D925107-EBE0-C197-F23B-1CA72650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52" y="0"/>
            <a:ext cx="12262106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EF95A-36CB-76F7-1F1D-B2A4DD812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903"/>
            <a:ext cx="9332167" cy="3362195"/>
          </a:xfrm>
        </p:spPr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Women make up only 39% of physiology studies. </a:t>
            </a:r>
          </a:p>
          <a:p>
            <a:r>
              <a:rPr lang="en-US" dirty="0">
                <a:latin typeface="Garamond" panose="02020404030301010803" pitchFamily="18" charset="0"/>
              </a:rPr>
              <a:t>Because of the need for better understanding of menstrual cycle </a:t>
            </a:r>
          </a:p>
          <a:p>
            <a:r>
              <a:rPr lang="en-US" dirty="0">
                <a:latin typeface="Garamond" panose="02020404030301010803" pitchFamily="18" charset="0"/>
              </a:rPr>
              <a:t>Complex to </a:t>
            </a:r>
            <a:r>
              <a:rPr lang="en-US" dirty="0" err="1">
                <a:latin typeface="Garamond" panose="02020404030301010803" pitchFamily="18" charset="0"/>
              </a:rPr>
              <a:t>analyse</a:t>
            </a:r>
            <a:r>
              <a:rPr lang="en-US" dirty="0">
                <a:latin typeface="Garamond" panose="02020404030301010803" pitchFamily="18" charset="0"/>
              </a:rPr>
              <a:t>, so I created a package that does it for you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15E86C-A591-36A8-4140-1A18BD523986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18" name="Picture 17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531E0B89-C4F5-FDDF-3178-7960A14D4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C0CE678-6D91-1A41-D147-351954F93C5E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36414CD8-A79F-8CE5-A60B-33A6095A4CEC}"/>
              </a:ext>
            </a:extLst>
          </p:cNvPr>
          <p:cNvSpPr txBox="1">
            <a:spLocks/>
          </p:cNvSpPr>
          <p:nvPr/>
        </p:nvSpPr>
        <p:spPr>
          <a:xfrm>
            <a:off x="1058934" y="229178"/>
            <a:ext cx="10515600" cy="1053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Garamond" panose="02020404030301010803" pitchFamily="18" charset="0"/>
              </a:rPr>
              <a:t>Introduction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18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86FAD-8C51-0C81-2F4B-432B08897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28862D12-900A-A495-1404-BB1DAA07B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52" y="0"/>
            <a:ext cx="12262106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0FC57-7E01-E374-3FF1-1E77BED64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903"/>
            <a:ext cx="9332167" cy="3362195"/>
          </a:xfrm>
        </p:spPr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Women make up only 39% of physiology studies. </a:t>
            </a:r>
          </a:p>
          <a:p>
            <a:r>
              <a:rPr lang="en-US" dirty="0">
                <a:latin typeface="Garamond" panose="02020404030301010803" pitchFamily="18" charset="0"/>
              </a:rPr>
              <a:t>Because of the need for better understanding of menstrual cycle </a:t>
            </a:r>
          </a:p>
          <a:p>
            <a:r>
              <a:rPr lang="en-US" dirty="0">
                <a:latin typeface="Garamond" panose="02020404030301010803" pitchFamily="18" charset="0"/>
              </a:rPr>
              <a:t>Complex to </a:t>
            </a:r>
            <a:r>
              <a:rPr lang="en-US" dirty="0" err="1">
                <a:latin typeface="Garamond" panose="02020404030301010803" pitchFamily="18" charset="0"/>
              </a:rPr>
              <a:t>analyse</a:t>
            </a:r>
            <a:r>
              <a:rPr lang="en-US" dirty="0">
                <a:latin typeface="Garamond" panose="02020404030301010803" pitchFamily="18" charset="0"/>
              </a:rPr>
              <a:t>, so I created a package that does it for you</a:t>
            </a:r>
          </a:p>
          <a:p>
            <a:r>
              <a:rPr lang="en-US" dirty="0">
                <a:latin typeface="Garamond" panose="02020404030301010803" pitchFamily="18" charset="0"/>
              </a:rPr>
              <a:t>Just need period dates, dated outcomes and confounders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56C319-D508-A22B-C543-CEAD4799E774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18" name="Picture 17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A855F563-1B83-4265-4E3E-778D798E7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27B41A-A090-DA1C-4A33-2BBAA2CDAD16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955B2D89-4B11-C385-02CD-DD09BCE103E1}"/>
              </a:ext>
            </a:extLst>
          </p:cNvPr>
          <p:cNvSpPr txBox="1">
            <a:spLocks/>
          </p:cNvSpPr>
          <p:nvPr/>
        </p:nvSpPr>
        <p:spPr>
          <a:xfrm>
            <a:off x="1058934" y="229178"/>
            <a:ext cx="10515600" cy="1053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Garamond" panose="02020404030301010803" pitchFamily="18" charset="0"/>
              </a:rPr>
              <a:t>Introduction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80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6A675B41-7CDA-036F-9874-467749255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52" y="0"/>
            <a:ext cx="1226210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2E7885-3CE7-BE3A-161B-F501C42A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934" y="229178"/>
            <a:ext cx="10515600" cy="1053556"/>
          </a:xfrm>
        </p:spPr>
        <p:txBody>
          <a:bodyPr/>
          <a:lstStyle/>
          <a:p>
            <a:pPr algn="ctr"/>
            <a:r>
              <a:rPr lang="en-US" b="1" dirty="0">
                <a:latin typeface="Garamond" panose="02020404030301010803" pitchFamily="18" charset="0"/>
              </a:rPr>
              <a:t>Methodology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53B62-28E7-DF48-1F2B-D692A390F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8517" y="2636964"/>
            <a:ext cx="3446927" cy="3552266"/>
          </a:xfrm>
          <a:ln>
            <a:noFill/>
          </a:ln>
          <a:effectLst>
            <a:glow rad="127000">
              <a:schemeClr val="tx1"/>
            </a:glow>
            <a:reflection endPos="5095" dist="50800" dir="5400000" sy="-100000" algn="bl" rotWithShape="0"/>
          </a:effectLst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i="1" dirty="0">
                <a:latin typeface="Garamond" panose="02020404030301010803" pitchFamily="18" charset="0"/>
              </a:rPr>
              <a:t> Cyclical </a:t>
            </a:r>
          </a:p>
          <a:p>
            <a:pPr marL="0" indent="0" algn="ctr">
              <a:buNone/>
            </a:pPr>
            <a:r>
              <a:rPr lang="en-US" sz="2400" i="1" dirty="0">
                <a:latin typeface="Garamond" panose="02020404030301010803" pitchFamily="18" charset="0"/>
              </a:rPr>
              <a:t>Continuous  </a:t>
            </a:r>
          </a:p>
          <a:p>
            <a:pPr marL="0" indent="0" algn="ctr">
              <a:buNone/>
            </a:pPr>
            <a:r>
              <a:rPr lang="en-US" sz="2400" i="1" dirty="0">
                <a:latin typeface="Garamond" panose="02020404030301010803" pitchFamily="18" charset="0"/>
              </a:rPr>
              <a:t>Flexible </a:t>
            </a:r>
          </a:p>
          <a:p>
            <a:pPr marL="0" indent="0" algn="ctr">
              <a:buNone/>
            </a:pPr>
            <a:r>
              <a:rPr lang="en-US" sz="2400" i="1" dirty="0">
                <a:latin typeface="Garamond" panose="02020404030301010803" pitchFamily="18" charset="0"/>
              </a:rPr>
              <a:t>Additive </a:t>
            </a:r>
          </a:p>
          <a:p>
            <a:pPr marL="0" indent="0" algn="ctr">
              <a:buNone/>
            </a:pPr>
            <a:r>
              <a:rPr lang="en-US" dirty="0">
                <a:latin typeface="Garamond" panose="02020404030301010803" pitchFamily="18" charset="0"/>
              </a:rPr>
              <a:t>General Additive Model (GAM) with Fourier basis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C3AE8F-4141-67E6-0690-92B0E9209488}"/>
              </a:ext>
            </a:extLst>
          </p:cNvPr>
          <p:cNvSpPr txBox="1">
            <a:spLocks/>
          </p:cNvSpPr>
          <p:nvPr/>
        </p:nvSpPr>
        <p:spPr>
          <a:xfrm>
            <a:off x="0" y="2641488"/>
            <a:ext cx="3785829" cy="3552266"/>
          </a:xfrm>
          <a:prstGeom prst="rect">
            <a:avLst/>
          </a:prstGeom>
          <a:noFill/>
          <a:ln>
            <a:solidFill>
              <a:schemeClr val="tx1">
                <a:alpha val="29000"/>
              </a:schemeClr>
            </a:solidFill>
          </a:ln>
          <a:effectLst>
            <a:glow rad="130224">
              <a:schemeClr val="tx1">
                <a:alpha val="40000"/>
              </a:schemeClr>
            </a:glow>
            <a:reflection stA="97971" endPos="33000" dist="50800" dir="5400000" sy="-100000" algn="bl" rotWithShape="0"/>
            <a:softEdge rad="12700"/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Garamond" panose="02020404030301010803" pitchFamily="18" charset="0"/>
              </a:rPr>
              <a:t>Removes errors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Garamond" panose="02020404030301010803" pitchFamily="18" charset="0"/>
              </a:rPr>
              <a:t> Labels Days -14 to 20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Garamond" panose="02020404030301010803" pitchFamily="18" charset="0"/>
              </a:rPr>
              <a:t>Remove erroneous/ irregular cycles </a:t>
            </a:r>
          </a:p>
          <a:p>
            <a:pPr marL="0" indent="0" algn="ctr">
              <a:buNone/>
            </a:pPr>
            <a:r>
              <a:rPr lang="en-US" dirty="0">
                <a:latin typeface="Garamond" panose="02020404030301010803" pitchFamily="18" charset="0"/>
              </a:rPr>
              <a:t>Enforces lower bound </a:t>
            </a:r>
          </a:p>
          <a:p>
            <a:pPr marL="0" indent="0" algn="ctr">
              <a:buNone/>
            </a:pPr>
            <a:r>
              <a:rPr lang="en-US" dirty="0" err="1">
                <a:latin typeface="Garamond" panose="02020404030301010803" pitchFamily="18" charset="0"/>
              </a:rPr>
              <a:t>Normalises</a:t>
            </a:r>
            <a:r>
              <a:rPr lang="en-US" dirty="0">
                <a:latin typeface="Garamond" panose="02020404030301010803" pitchFamily="18" charset="0"/>
              </a:rPr>
              <a:t> outcome 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7E10A3-6DBE-2C5F-B497-60E46EDDDE2C}"/>
              </a:ext>
            </a:extLst>
          </p:cNvPr>
          <p:cNvSpPr txBox="1">
            <a:spLocks/>
          </p:cNvSpPr>
          <p:nvPr/>
        </p:nvSpPr>
        <p:spPr>
          <a:xfrm>
            <a:off x="8735542" y="2636964"/>
            <a:ext cx="3456458" cy="1851488"/>
          </a:xfrm>
          <a:prstGeom prst="rect">
            <a:avLst/>
          </a:prstGeom>
          <a:ln>
            <a:noFill/>
          </a:ln>
          <a:effectLst>
            <a:glow>
              <a:schemeClr val="tx1"/>
            </a:glo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Garamond" panose="02020404030301010803" pitchFamily="18" charset="0"/>
              </a:rPr>
              <a:t>Typical cycle GAM </a:t>
            </a:r>
          </a:p>
          <a:p>
            <a:pPr marL="0" indent="0" algn="ctr">
              <a:buNone/>
            </a:pPr>
            <a:r>
              <a:rPr lang="en-US" dirty="0">
                <a:latin typeface="Garamond" panose="02020404030301010803" pitchFamily="18" charset="0"/>
              </a:rPr>
              <a:t>Overlayed linear regression models at turning point days </a:t>
            </a:r>
          </a:p>
        </p:txBody>
      </p:sp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C7688B8A-59F8-F260-D486-E75B77A7048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233" y="1443554"/>
            <a:ext cx="11711257" cy="888606"/>
          </a:xfrm>
          <a:prstGeom prst="rect">
            <a:avLst/>
          </a:prstGeom>
          <a:effectLst>
            <a:glow rad="404803">
              <a:srgbClr val="FEF3E9">
                <a:alpha val="75708"/>
              </a:srgbClr>
            </a:glow>
            <a:outerShdw dist="50800" dir="5400000" algn="ctr" rotWithShape="0">
              <a:srgbClr val="000000">
                <a:alpha val="0"/>
              </a:srgbClr>
            </a:outerShdw>
            <a:softEdge rad="326409"/>
          </a:effectLst>
          <a:scene3d>
            <a:camera prst="orthographicFront"/>
            <a:lightRig rig="threePt" dir="t"/>
          </a:scene3d>
          <a:sp3d/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9BD7770-03BA-CBD2-0C8B-83665EF30A99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25" name="Picture 24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9C20FC37-E0A0-C9C2-3B27-A8C6391A5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5DF80B-7E98-9F84-0309-C0ADA2896D2F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8678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9F29E22C-13F4-208B-587F-5CAF97E72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52" y="0"/>
            <a:ext cx="1226210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B8BB77-99A6-7199-0370-6CF99A601128}"/>
              </a:ext>
            </a:extLst>
          </p:cNvPr>
          <p:cNvSpPr txBox="1"/>
          <p:nvPr/>
        </p:nvSpPr>
        <p:spPr>
          <a:xfrm>
            <a:off x="2259043" y="6124939"/>
            <a:ext cx="446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Garamond" panose="02020404030301010803" pitchFamily="18" charset="0"/>
              </a:rPr>
              <a:t>Output Produced with </a:t>
            </a:r>
            <a:r>
              <a:rPr lang="en-US" i="1" dirty="0" err="1">
                <a:latin typeface="Garamond" panose="02020404030301010803" pitchFamily="18" charset="0"/>
              </a:rPr>
              <a:t>MCAnalysis</a:t>
            </a:r>
            <a:r>
              <a:rPr lang="en-US" i="1" dirty="0">
                <a:latin typeface="Garamond" panose="02020404030301010803" pitchFamily="18" charset="0"/>
              </a:rPr>
              <a:t> Package </a:t>
            </a:r>
          </a:p>
        </p:txBody>
      </p:sp>
      <p:pic>
        <p:nvPicPr>
          <p:cNvPr id="3074" name="Picture 2" descr="Flo (app) - Wikipedia">
            <a:extLst>
              <a:ext uri="{FF2B5EF4-FFF2-40B4-BE49-F238E27FC236}">
                <a16:creationId xmlns:a16="http://schemas.microsoft.com/office/drawing/2014/main" id="{B1A5570E-9249-F2FA-11D5-8EB9C75EE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706" y="214239"/>
            <a:ext cx="2663891" cy="147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155615E-E3B0-0DB9-ADDC-C7C66AEAA865}"/>
              </a:ext>
            </a:extLst>
          </p:cNvPr>
          <p:cNvSpPr txBox="1"/>
          <p:nvPr/>
        </p:nvSpPr>
        <p:spPr>
          <a:xfrm>
            <a:off x="7785422" y="2183327"/>
            <a:ext cx="3980374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Day 5 to -6 </a:t>
            </a:r>
            <a:endParaRPr lang="en-US" sz="2800" dirty="0">
              <a:latin typeface="Garamond" panose="02020404030301010803" pitchFamily="18" charset="0"/>
            </a:endParaRPr>
          </a:p>
          <a:p>
            <a:pPr algn="ctr"/>
            <a:r>
              <a:rPr lang="en-US" sz="2800" dirty="0">
                <a:latin typeface="Garamond" panose="02020404030301010803" pitchFamily="18" charset="0"/>
              </a:rPr>
              <a:t> 0.1 % increase per day </a:t>
            </a:r>
          </a:p>
          <a:p>
            <a:pPr algn="ctr"/>
            <a:r>
              <a:rPr lang="en-US" sz="2800" b="1" dirty="0">
                <a:latin typeface="Garamond" panose="02020404030301010803" pitchFamily="18" charset="0"/>
              </a:rPr>
              <a:t>Day -6 to +5 </a:t>
            </a:r>
            <a:endParaRPr lang="en-US" sz="2800" dirty="0">
              <a:latin typeface="Garamond" panose="02020404030301010803" pitchFamily="18" charset="0"/>
            </a:endParaRPr>
          </a:p>
          <a:p>
            <a:pPr algn="ctr"/>
            <a:r>
              <a:rPr lang="en-US" sz="2800" dirty="0">
                <a:latin typeface="Garamond" panose="02020404030301010803" pitchFamily="18" charset="0"/>
              </a:rPr>
              <a:t>0.2% decrease per day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AA62243-DD83-EFA9-FF70-7C03FFD062CB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29" name="Picture 28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841B606A-1711-71AE-6D16-06A5D2B6A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7808FB-392A-7D1C-66AF-2215915BAB68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  <p:pic>
        <p:nvPicPr>
          <p:cNvPr id="34" name="Content Placeholder 9" descr="A graph showing a cycle&#10;&#10;AI-generated content may be incorrect.">
            <a:extLst>
              <a:ext uri="{FF2B5EF4-FFF2-40B4-BE49-F238E27FC236}">
                <a16:creationId xmlns:a16="http://schemas.microsoft.com/office/drawing/2014/main" id="{81C0B1E7-C57C-62AA-4771-87A3E19876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898" y="1245887"/>
            <a:ext cx="7361380" cy="488465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731381C-0407-4ECC-355E-E8AE3782C5A7}"/>
              </a:ext>
            </a:extLst>
          </p:cNvPr>
          <p:cNvSpPr/>
          <p:nvPr/>
        </p:nvSpPr>
        <p:spPr>
          <a:xfrm>
            <a:off x="5260490" y="4949331"/>
            <a:ext cx="2976283" cy="1325563"/>
          </a:xfrm>
          <a:prstGeom prst="ellipse">
            <a:avLst/>
          </a:prstGeom>
          <a:noFill/>
          <a:ln w="28575"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56D326A5-DDF6-ADB1-87F3-E638ABDBA758}"/>
              </a:ext>
            </a:extLst>
          </p:cNvPr>
          <p:cNvSpPr txBox="1">
            <a:spLocks/>
          </p:cNvSpPr>
          <p:nvPr/>
        </p:nvSpPr>
        <p:spPr>
          <a:xfrm>
            <a:off x="509930" y="892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Garamond" panose="02020404030301010803" pitchFamily="18" charset="0"/>
              </a:rPr>
              <a:t>Heart Rate Results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FC82228-E1E6-B85F-E679-77EE841C33D3}"/>
              </a:ext>
            </a:extLst>
          </p:cNvPr>
          <p:cNvCxnSpPr/>
          <p:nvPr/>
        </p:nvCxnSpPr>
        <p:spPr>
          <a:xfrm flipV="1">
            <a:off x="7931575" y="3999209"/>
            <a:ext cx="933061" cy="1225934"/>
          </a:xfrm>
          <a:prstGeom prst="straightConnector1">
            <a:avLst/>
          </a:prstGeom>
          <a:ln>
            <a:solidFill>
              <a:schemeClr val="tx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06D87C9B-9BB7-CF6A-DBC7-C6B7E766B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587" y="0"/>
            <a:ext cx="12421640" cy="6947225"/>
          </a:xfrm>
          <a:prstGeom prst="rect">
            <a:avLst/>
          </a:prstGeom>
        </p:spPr>
      </p:pic>
      <p:pic>
        <p:nvPicPr>
          <p:cNvPr id="18" name="Content Placeholder 17" descr="A diagram of menstrual cycle effect on mania symptoms&#10;&#10;AI-generated content may be incorrect.">
            <a:extLst>
              <a:ext uri="{FF2B5EF4-FFF2-40B4-BE49-F238E27FC236}">
                <a16:creationId xmlns:a16="http://schemas.microsoft.com/office/drawing/2014/main" id="{EC139C90-59BD-E81B-FF8E-5DE0C5B87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28898" y="1245887"/>
            <a:ext cx="7191766" cy="488465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376B42-C833-31C4-5B19-4BED867F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930" y="892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Garamond" panose="02020404030301010803" pitchFamily="18" charset="0"/>
              </a:rPr>
              <a:t>Mental Health Results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F35846-0779-317F-D414-EFC8D7110AB2}"/>
              </a:ext>
            </a:extLst>
          </p:cNvPr>
          <p:cNvSpPr/>
          <p:nvPr/>
        </p:nvSpPr>
        <p:spPr>
          <a:xfrm>
            <a:off x="4944261" y="4798392"/>
            <a:ext cx="2976283" cy="132556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A0BCC9-A9C7-9EA1-AD39-ABE6DAE0121C}"/>
              </a:ext>
            </a:extLst>
          </p:cNvPr>
          <p:cNvSpPr txBox="1"/>
          <p:nvPr/>
        </p:nvSpPr>
        <p:spPr>
          <a:xfrm>
            <a:off x="7589869" y="1163969"/>
            <a:ext cx="3980374" cy="35394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Day -13 to -6</a:t>
            </a:r>
          </a:p>
          <a:p>
            <a:pPr algn="ctr"/>
            <a:r>
              <a:rPr lang="en-US" sz="2800" dirty="0">
                <a:latin typeface="Garamond" panose="02020404030301010803" pitchFamily="18" charset="0"/>
              </a:rPr>
              <a:t>Decrease 5.6% per day</a:t>
            </a:r>
          </a:p>
          <a:p>
            <a:pPr algn="ctr"/>
            <a:r>
              <a:rPr lang="en-US" sz="2800" b="1" dirty="0">
                <a:latin typeface="Garamond" panose="02020404030301010803" pitchFamily="18" charset="0"/>
              </a:rPr>
              <a:t>Day -6 to +1</a:t>
            </a:r>
          </a:p>
          <a:p>
            <a:pPr algn="ctr"/>
            <a:r>
              <a:rPr lang="en-US" sz="2800" dirty="0">
                <a:latin typeface="Garamond" panose="02020404030301010803" pitchFamily="18" charset="0"/>
              </a:rPr>
              <a:t>Increase 8.4% per day</a:t>
            </a:r>
          </a:p>
          <a:p>
            <a:pPr algn="ctr"/>
            <a:r>
              <a:rPr lang="en-US" sz="2800" b="1" dirty="0">
                <a:latin typeface="Garamond" panose="02020404030301010803" pitchFamily="18" charset="0"/>
              </a:rPr>
              <a:t>Day + 1 to 9</a:t>
            </a:r>
          </a:p>
          <a:p>
            <a:pPr algn="ctr"/>
            <a:r>
              <a:rPr lang="en-US" sz="2800" dirty="0">
                <a:latin typeface="Garamond" panose="02020404030301010803" pitchFamily="18" charset="0"/>
              </a:rPr>
              <a:t>Decrease 7.2% per day</a:t>
            </a:r>
          </a:p>
          <a:p>
            <a:pPr algn="ctr"/>
            <a:r>
              <a:rPr lang="en-US" sz="2800" b="1" dirty="0">
                <a:latin typeface="Garamond" panose="02020404030301010803" pitchFamily="18" charset="0"/>
              </a:rPr>
              <a:t>Day 9 to 13</a:t>
            </a:r>
          </a:p>
          <a:p>
            <a:pPr algn="ctr"/>
            <a:r>
              <a:rPr lang="en-US" sz="2800" dirty="0">
                <a:latin typeface="Garamond" panose="02020404030301010803" pitchFamily="18" charset="0"/>
              </a:rPr>
              <a:t>Increase 3% per day </a:t>
            </a:r>
          </a:p>
        </p:txBody>
      </p:sp>
      <p:pic>
        <p:nvPicPr>
          <p:cNvPr id="2052" name="Picture 4" descr="Live better with juli | juli health">
            <a:extLst>
              <a:ext uri="{FF2B5EF4-FFF2-40B4-BE49-F238E27FC236}">
                <a16:creationId xmlns:a16="http://schemas.microsoft.com/office/drawing/2014/main" id="{4089A55F-0FDE-8F0E-15DB-E06CA7D05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5218" y="89225"/>
            <a:ext cx="1169737" cy="116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66DBFB1-6F99-0A72-4FC9-5C8D7AA57224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24" name="Picture 23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77DB0C70-B4B5-F185-5DE2-EA0A02034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037DAC-5466-5195-36E8-91F35011FDBE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450D94E-94E7-A49A-F06C-6DA594D96332}"/>
              </a:ext>
            </a:extLst>
          </p:cNvPr>
          <p:cNvSpPr txBox="1"/>
          <p:nvPr/>
        </p:nvSpPr>
        <p:spPr>
          <a:xfrm>
            <a:off x="2259043" y="6124939"/>
            <a:ext cx="446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Garamond" panose="02020404030301010803" pitchFamily="18" charset="0"/>
              </a:rPr>
              <a:t>Output Produced with </a:t>
            </a:r>
            <a:r>
              <a:rPr lang="en-US" i="1" dirty="0" err="1">
                <a:latin typeface="Garamond" panose="02020404030301010803" pitchFamily="18" charset="0"/>
              </a:rPr>
              <a:t>MCAnalysis</a:t>
            </a:r>
            <a:r>
              <a:rPr lang="en-US" i="1" dirty="0">
                <a:latin typeface="Garamond" panose="02020404030301010803" pitchFamily="18" charset="0"/>
              </a:rPr>
              <a:t> Package 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C19693-0063-69BF-0583-7159F4F728CB}"/>
              </a:ext>
            </a:extLst>
          </p:cNvPr>
          <p:cNvCxnSpPr>
            <a:cxnSpLocks/>
          </p:cNvCxnSpPr>
          <p:nvPr/>
        </p:nvCxnSpPr>
        <p:spPr>
          <a:xfrm flipV="1">
            <a:off x="7920544" y="4703399"/>
            <a:ext cx="523605" cy="668072"/>
          </a:xfrm>
          <a:prstGeom prst="straightConnector1">
            <a:avLst/>
          </a:prstGeom>
          <a:ln>
            <a:solidFill>
              <a:schemeClr val="tx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867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CDD7192B-E188-B633-6E45-8958FB94A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587" y="0"/>
            <a:ext cx="12421640" cy="69472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8B82CB-4B83-E36D-B9D5-BBAA617F2B69}"/>
              </a:ext>
            </a:extLst>
          </p:cNvPr>
          <p:cNvSpPr txBox="1"/>
          <p:nvPr/>
        </p:nvSpPr>
        <p:spPr>
          <a:xfrm>
            <a:off x="2671481" y="1980193"/>
            <a:ext cx="73869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Garamond" panose="02020404030301010803" pitchFamily="18" charset="0"/>
              </a:rPr>
              <a:t>Minutes of sleep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Garamond" panose="02020404030301010803" pitchFamily="18" charset="0"/>
              </a:rPr>
              <a:t>Steps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Garamond" panose="02020404030301010803" pitchFamily="18" charset="0"/>
              </a:rPr>
              <a:t>Headache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Garamond" panose="02020404030301010803" pitchFamily="18" charset="0"/>
              </a:rPr>
              <a:t>Time outdoors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Garamond" panose="02020404030301010803" pitchFamily="18" charset="0"/>
              </a:rPr>
              <a:t>Daily average heart rate</a:t>
            </a:r>
          </a:p>
          <a:p>
            <a:r>
              <a:rPr lang="en-US" sz="3600" dirty="0">
                <a:latin typeface="Garamond" panose="02020404030301010803" pitchFamily="18" charset="0"/>
              </a:rPr>
              <a:t>     and more…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0ED62B1-747F-EAF0-89F1-9D0723CA4CA8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24" name="Picture 23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752CC282-5782-F6FF-FD0F-AD93678E2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D741E4E-6BDC-332F-531D-43BBB1CEC55E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236B6C29-8778-2DF9-91E9-1A8D1E92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930" y="44378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Garamond" panose="02020404030301010803" pitchFamily="18" charset="0"/>
              </a:rPr>
              <a:t>Other Significant Findings</a:t>
            </a:r>
          </a:p>
        </p:txBody>
      </p:sp>
    </p:spTree>
    <p:extLst>
      <p:ext uri="{BB962C8B-B14F-4D97-AF65-F5344CB8AC3E}">
        <p14:creationId xmlns:p14="http://schemas.microsoft.com/office/powerpoint/2010/main" val="375709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background with a white circle&#10;&#10;AI-generated content may be incorrect.">
            <a:extLst>
              <a:ext uri="{FF2B5EF4-FFF2-40B4-BE49-F238E27FC236}">
                <a16:creationId xmlns:a16="http://schemas.microsoft.com/office/drawing/2014/main" id="{B58159A2-12BC-89B8-D79C-6D25AA74E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587" y="0"/>
            <a:ext cx="12421640" cy="69472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7C5BCB-55B9-EFDD-1F37-AF51F0A1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83" y="140503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Garamond" panose="02020404030301010803" pitchFamily="18" charset="0"/>
              </a:rPr>
              <a:t>Thank you!</a:t>
            </a:r>
          </a:p>
        </p:txBody>
      </p:sp>
      <p:pic>
        <p:nvPicPr>
          <p:cNvPr id="9" name="Picture 8" descr="A screenshot of a qr code&#10;&#10;AI-generated content may be incorrect.">
            <a:extLst>
              <a:ext uri="{FF2B5EF4-FFF2-40B4-BE49-F238E27FC236}">
                <a16:creationId xmlns:a16="http://schemas.microsoft.com/office/drawing/2014/main" id="{BC085154-1872-E9A1-F7A5-B7244CA74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651" y="2648411"/>
            <a:ext cx="3648596" cy="295799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1705094-51DE-B031-D0C7-8D143FF2CBA4}"/>
              </a:ext>
            </a:extLst>
          </p:cNvPr>
          <p:cNvGrpSpPr/>
          <p:nvPr/>
        </p:nvGrpSpPr>
        <p:grpSpPr>
          <a:xfrm>
            <a:off x="10021077" y="4674673"/>
            <a:ext cx="2015413" cy="2064936"/>
            <a:chOff x="10687506" y="5321932"/>
            <a:chExt cx="705965" cy="1148537"/>
          </a:xfrm>
        </p:grpSpPr>
        <p:pic>
          <p:nvPicPr>
            <p:cNvPr id="15" name="Picture 14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B5AE7484-BD5A-86D9-173B-580655633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908" t="6327" r="5892" b="6900"/>
            <a:stretch>
              <a:fillRect/>
            </a:stretch>
          </p:blipFill>
          <p:spPr>
            <a:xfrm>
              <a:off x="10687506" y="5321932"/>
              <a:ext cx="705965" cy="98627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FB66F52-3D34-4D2C-4303-CB2EF21708CA}"/>
                </a:ext>
              </a:extLst>
            </p:cNvPr>
            <p:cNvSpPr txBox="1"/>
            <p:nvPr/>
          </p:nvSpPr>
          <p:spPr>
            <a:xfrm>
              <a:off x="10687506" y="6308210"/>
              <a:ext cx="705965" cy="16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 err="1">
                  <a:latin typeface="Garamond" panose="02020404030301010803" pitchFamily="18" charset="0"/>
                </a:rPr>
                <a:t>MCAnalysis</a:t>
              </a:r>
              <a:r>
                <a:rPr lang="en-US" sz="1400" i="1" dirty="0">
                  <a:latin typeface="Garamond" panose="02020404030301010803" pitchFamily="18" charset="0"/>
                </a:rPr>
                <a:t> Package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5038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0962CCB8CA64AB4DAF2C8B7389621" ma:contentTypeVersion="14" ma:contentTypeDescription="Create a new document." ma:contentTypeScope="" ma:versionID="7e81367a4717fa04ef67bc42e1863c9a">
  <xsd:schema xmlns:xsd="http://www.w3.org/2001/XMLSchema" xmlns:xs="http://www.w3.org/2001/XMLSchema" xmlns:p="http://schemas.microsoft.com/office/2006/metadata/properties" xmlns:ns2="f90c77d1-93ed-4f71-8f4c-7998a9530f63" xmlns:ns3="e126fe4f-ea1a-43f6-ac45-2d71a1d6365f" targetNamespace="http://schemas.microsoft.com/office/2006/metadata/properties" ma:root="true" ma:fieldsID="a5366e670cefc32800cc9fb71569c301" ns2:_="" ns3:_="">
    <xsd:import namespace="f90c77d1-93ed-4f71-8f4c-7998a9530f63"/>
    <xsd:import namespace="e126fe4f-ea1a-43f6-ac45-2d71a1d63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c77d1-93ed-4f71-8f4c-7998a9530f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d63537c-d192-4dc4-bb87-a5632b1c76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6fe4f-ea1a-43f6-ac45-2d71a1d6365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469578-d4c4-43e6-9f3e-6d981ab352b3}" ma:internalName="TaxCatchAll" ma:showField="CatchAllData" ma:web="e126fe4f-ea1a-43f6-ac45-2d71a1d63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0c77d1-93ed-4f71-8f4c-7998a9530f63">
      <Terms xmlns="http://schemas.microsoft.com/office/infopath/2007/PartnerControls"/>
    </lcf76f155ced4ddcb4097134ff3c332f>
    <TaxCatchAll xmlns="e126fe4f-ea1a-43f6-ac45-2d71a1d6365f" xsi:nil="true"/>
  </documentManagement>
</p:properties>
</file>

<file path=customXml/itemProps1.xml><?xml version="1.0" encoding="utf-8"?>
<ds:datastoreItem xmlns:ds="http://schemas.openxmlformats.org/officeDocument/2006/customXml" ds:itemID="{926F6BE3-D277-4954-B7AD-A3B0B18459EA}"/>
</file>

<file path=customXml/itemProps2.xml><?xml version="1.0" encoding="utf-8"?>
<ds:datastoreItem xmlns:ds="http://schemas.openxmlformats.org/officeDocument/2006/customXml" ds:itemID="{90DD038D-4110-4200-BD9C-CAD192E452CE}"/>
</file>

<file path=customXml/itemProps3.xml><?xml version="1.0" encoding="utf-8"?>
<ds:datastoreItem xmlns:ds="http://schemas.openxmlformats.org/officeDocument/2006/customXml" ds:itemID="{CC775931-3D9F-4464-8707-844B2807C5CC}"/>
</file>

<file path=docProps/app.xml><?xml version="1.0" encoding="utf-8"?>
<Properties xmlns="http://schemas.openxmlformats.org/officeDocument/2006/extended-properties" xmlns:vt="http://schemas.openxmlformats.org/officeDocument/2006/docPropsVTypes">
  <TotalTime>8444</TotalTime>
  <Words>459</Words>
  <Application>Microsoft Macintosh PowerPoint</Application>
  <PresentationFormat>Widescreen</PresentationFormat>
  <Paragraphs>102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Garamond</vt:lpstr>
      <vt:lpstr>Office Theme</vt:lpstr>
      <vt:lpstr>Analysing Effects of the Menstrual Cycle in Digital Health:  Mental Health &amp; Heart Rate Data</vt:lpstr>
      <vt:lpstr>PowerPoint Presentation</vt:lpstr>
      <vt:lpstr>PowerPoint Presentation</vt:lpstr>
      <vt:lpstr>PowerPoint Presentation</vt:lpstr>
      <vt:lpstr>PowerPoint Presentation</vt:lpstr>
      <vt:lpstr>Methodology </vt:lpstr>
      <vt:lpstr>PowerPoint Presentation</vt:lpstr>
      <vt:lpstr>Mental Health Results</vt:lpstr>
      <vt:lpstr>Other Significant Findings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Kyra Delray</dc:creator>
  <cp:lastModifiedBy>Kyra Delray</cp:lastModifiedBy>
  <cp:revision>6</cp:revision>
  <dcterms:created xsi:type="dcterms:W3CDTF">2026-01-27T12:06:43Z</dcterms:created>
  <dcterms:modified xsi:type="dcterms:W3CDTF">2026-02-02T08:51:12Z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0x0101002240962CCB8CA64AB4DAF2C8B7389621</vt:lpwstr>
  </property>
</Properties>
</file>