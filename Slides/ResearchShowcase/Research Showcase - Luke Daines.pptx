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4"/>
  </p:notesMasterIdLst>
  <p:sldIdLst>
    <p:sldId id="264" r:id="rId6"/>
    <p:sldId id="360" r:id="rId7"/>
    <p:sldId id="368" r:id="rId8"/>
    <p:sldId id="395" r:id="rId9"/>
    <p:sldId id="396" r:id="rId10"/>
    <p:sldId id="384" r:id="rId11"/>
    <p:sldId id="386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5B9B"/>
    <a:srgbClr val="2C82C6"/>
    <a:srgbClr val="F9B003"/>
    <a:srgbClr val="59ADB8"/>
    <a:srgbClr val="AAC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/>
    <p:restoredTop sz="86964"/>
  </p:normalViewPr>
  <p:slideViewPr>
    <p:cSldViewPr snapToGrid="0">
      <p:cViewPr varScale="1">
        <p:scale>
          <a:sx n="82" d="100"/>
          <a:sy n="82" d="100"/>
        </p:scale>
        <p:origin x="1488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30391-7201-884C-B745-BC19DE9A090A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0CBA8-F14A-B048-A6C7-CDFC2B659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1D31-D389-237D-3507-654EA5FE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0E763-836D-7233-910D-FA60B5D20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DC186-40A6-D041-9A68-7603C7B7E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AED1A-B849-DE37-6DBB-7B11B3B9F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0CBA8-F14A-B048-A6C7-CDFC2B6593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8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Lots of scope for wearables and digital technology. </a:t>
            </a:r>
          </a:p>
          <a:p>
            <a:r>
              <a:rPr lang="en-GB" dirty="0"/>
              <a:t>This can benefit patients, health systems. </a:t>
            </a:r>
          </a:p>
          <a:p>
            <a:r>
              <a:rPr lang="en-GB" dirty="0"/>
              <a:t>A real opportunity for UK to be a world leader in high quality health research.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0CBA8-F14A-B048-A6C7-CDFC2B6593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3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4164-67C9-D4B0-D3DF-EDC90E84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EA129-54AD-BCD7-59B6-A11B159B9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12F40-CD17-5A5E-B8B4-E4AF80080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6FE56-AD3B-F966-7135-61BA9EF30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0CBA8-F14A-B048-A6C7-CDFC2B6593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7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782B-F504-4E71-DB4D-FCBDDE45F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E14BE-76A8-83A3-2E7C-4029999EB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C693F-213E-DABA-7F3C-B0722F62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53E08-474C-2751-81D1-6FFD8A83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DB143-8A03-69FA-74AF-DE1BA32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3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0119-1A08-5F89-3ED5-61195D0E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2618-4D59-7D43-ACBD-E93D473F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90FFE-A615-C8E8-B37C-EF452A3B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82B7-0C89-7487-9F45-94AD86C7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E9A19-FF11-36E2-60C9-ECCC0418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0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A73E-A7C2-3420-2360-814CFF28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7FF2-B4F2-8316-E4B8-CC5D7443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4EBE7-68E2-34C4-66AA-66C79E80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C955C-A08A-E367-C22B-D1EB0895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1BC8-E0FF-F32B-4579-3BCE4A33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B863-246F-8C39-C8F0-C677CD7F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619C-81EF-D29A-18EE-7DAFB5FBA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EE7BC-92DD-E616-04AA-2DD5E72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429E4-C9C6-82A6-BC8C-31F63D0E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FA319-2A6A-D5FF-E8ED-3FB89891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F4207-F37F-BDE4-65B1-C312466D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6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05C2-0F21-DE69-AF51-B377FA34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CBA6C-93A5-AA91-C4DE-F05177FFC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560C8-5D50-9A71-C214-C99C3CF93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4FF1C-2EC5-F9FA-C1E5-834A0FFCE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8065F-6841-3050-7DC8-956C2E9DE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041A7-4DDF-A3AB-D895-EA9D844D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305F3-91DB-4321-DB65-88B00D84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00326-AD60-3180-9A95-A9608032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3829-7D71-4C5F-1BBE-709DB336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35BAD-01BA-0E4D-223A-A0186280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B7774-468E-D4A4-C936-A6E7A15D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CBEED-C154-93FF-AB4E-F585C86F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4C262-6941-5B7E-14F3-1C3BA286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9617C7-FB67-5EF9-E06D-5555714F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CEF56-15BA-4C8D-F01F-36AA858F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5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1475-84C7-71D9-3F07-34353C4A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9239-A12B-F41C-14A9-5D71A2970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ADF62-E961-8DCF-622F-5CEB46CD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2B004-9AFC-C7CE-363E-7CAFEC24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1E0EE-333F-C063-C4AB-09A2ACC6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40619-CD9B-7CE8-9DF7-3A5181DE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8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3634-8730-6B64-0A88-2435E2A0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33791-40EE-6404-36DC-7B63C1E3C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72481-5811-140C-B9C0-119868C2E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A4D80-BF8C-90C6-33A0-3DD7E131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0C5E-784F-CE5F-047F-CD5798E1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FE9F7-AA02-1B68-A136-DD85D738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4E29-BFCF-56E2-5327-1321BD0E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9F68F-F592-4B74-9BE0-0BA69CF86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5BC7-7CFF-60F3-BB6F-926B15A3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E31B-EE93-12B0-414D-5E74AB14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4114-B243-F0A2-81ED-834EDE3E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5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7C984-F57C-29D0-EAF4-808DD00BA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CFAF1-2A6D-F79E-8E1F-840A3DF9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4C80A-9D16-3866-3287-40FD9A3E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BC95-9FD7-85D1-F8AA-E569AF32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30012-C2ED-313D-9852-A68A2044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54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" y="1300481"/>
            <a:ext cx="12191999" cy="1544900"/>
          </a:xfrm>
        </p:spPr>
        <p:txBody>
          <a:bodyPr anchor="b">
            <a:normAutofit/>
          </a:bodyPr>
          <a:lstStyle>
            <a:lvl1pPr algn="ctr">
              <a:defRPr sz="3600" b="1" i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15957"/>
            <a:ext cx="12192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64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696" y="384377"/>
            <a:ext cx="11202464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96" y="1854504"/>
            <a:ext cx="11192304" cy="40910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729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26" y="365128"/>
            <a:ext cx="1118749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026" y="1825626"/>
            <a:ext cx="5386135" cy="40978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241" y="1825626"/>
            <a:ext cx="5413945" cy="40978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70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47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8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8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45643" y="1532965"/>
            <a:ext cx="6172200" cy="43427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28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086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08855-C7A4-1F06-EB88-FAEC101AA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1EC26-9181-4ACA-C6BB-4821A0196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23180-72AE-4F58-94AA-4884568C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8A249-B942-604B-B44A-234E6F4E2D2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02DA-6D04-3EC9-CD2E-AB4BD89F3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B95C5-9B23-3773-B0D8-7100DB3B1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5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7361" y="365128"/>
            <a:ext cx="111463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361" y="1825626"/>
            <a:ext cx="11156481" cy="4046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896A0-7638-6B0C-F644-D9D836E82DBA}"/>
              </a:ext>
            </a:extLst>
          </p:cNvPr>
          <p:cNvSpPr txBox="1"/>
          <p:nvPr userDrawn="1"/>
        </p:nvSpPr>
        <p:spPr>
          <a:xfrm>
            <a:off x="9680448" y="6437377"/>
            <a:ext cx="5023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aseline="0">
                <a:solidFill>
                  <a:schemeClr val="bg1"/>
                </a:solidFill>
                <a:latin typeface="+mj-lt"/>
              </a:rPr>
              <a:t>Better health, better futures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38D5DF-EFE0-4709-A682-0210CF842FAD}"/>
              </a:ext>
            </a:extLst>
          </p:cNvPr>
          <p:cNvCxnSpPr>
            <a:cxnSpLocks/>
          </p:cNvCxnSpPr>
          <p:nvPr userDrawn="1"/>
        </p:nvCxnSpPr>
        <p:spPr>
          <a:xfrm>
            <a:off x="9687496" y="6437376"/>
            <a:ext cx="0" cy="3413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78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184F93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84F93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84F93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84F93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4F93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4F93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Relationship Id="rId4" Type="http://schemas.openxmlformats.org/officeDocument/2006/relationships/image" Target="../media/image11.svg"/><Relationship Id="rId9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sv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19" Type="http://schemas.openxmlformats.org/officeDocument/2006/relationships/image" Target="../media/image26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Users/barrykinder/Library/CloudStorage/Dropbox/Health%20Research%20From%20Home/Health%20Research%20From%20Home%20Logo/HRfH%20Approved%20Logos/Vector%20Logos/HRfH%20Landscape%20RGB%20Logo%20BLACK%20TEXT.svg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7353-4047-799D-0043-51A056FC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37A5F0-F58C-21E5-DC1A-EF9CA006011E}"/>
              </a:ext>
            </a:extLst>
          </p:cNvPr>
          <p:cNvSpPr txBox="1"/>
          <p:nvPr/>
        </p:nvSpPr>
        <p:spPr>
          <a:xfrm>
            <a:off x="-114300" y="2095169"/>
            <a:ext cx="124206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0" i="0" spc="800" dirty="0">
                <a:latin typeface="Effra Medium" panose="020B0603020203020204" pitchFamily="34" charset="77"/>
              </a:rPr>
              <a:t>Digital signatures of asthma</a:t>
            </a:r>
          </a:p>
          <a:p>
            <a:pPr algn="ctr">
              <a:lnSpc>
                <a:spcPts val="6000"/>
              </a:lnSpc>
            </a:pPr>
            <a:r>
              <a:rPr lang="en-US" sz="2800" spc="800" dirty="0">
                <a:latin typeface="Effra Medium" panose="020B0603020203020204" pitchFamily="34" charset="77"/>
              </a:rPr>
              <a:t>Enabling proactive monitoring</a:t>
            </a:r>
            <a:endParaRPr lang="en-US" sz="1000" spc="300" dirty="0">
              <a:ln w="6350">
                <a:noFill/>
              </a:ln>
              <a:latin typeface="Effra Medium" panose="020B0603020203020204" pitchFamily="34" charset="77"/>
            </a:endParaRPr>
          </a:p>
          <a:p>
            <a:pPr algn="ctr"/>
            <a:endParaRPr lang="en-US" sz="3000" dirty="0">
              <a:ln w="6350">
                <a:noFill/>
              </a:ln>
              <a:solidFill>
                <a:srgbClr val="2C82C6"/>
              </a:solidFill>
              <a:latin typeface="Effra Medium" panose="020B0603020203020204" pitchFamily="34" charset="77"/>
            </a:endParaRPr>
          </a:p>
          <a:p>
            <a:pPr algn="ctr"/>
            <a:r>
              <a:rPr lang="en-US" sz="3600" dirty="0">
                <a:ln w="6350">
                  <a:noFill/>
                </a:ln>
                <a:solidFill>
                  <a:srgbClr val="2C82C6"/>
                </a:solidFill>
                <a:latin typeface="Effra Medium" panose="020B0603020203020204" pitchFamily="34" charset="77"/>
              </a:rPr>
              <a:t>Dr Luke Daines</a:t>
            </a:r>
          </a:p>
          <a:p>
            <a:pPr algn="ctr"/>
            <a:r>
              <a:rPr lang="en-US" sz="2400" b="0" i="0" spc="200" dirty="0">
                <a:solidFill>
                  <a:srgbClr val="59ADB8"/>
                </a:solidFill>
                <a:latin typeface="Effra Medium" panose="020B0603020203020204" pitchFamily="34" charset="77"/>
              </a:rPr>
              <a:t>GP and Clinical Lecturer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05D81E-C47B-EB6E-D475-F89D44C2B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43363" y="4984683"/>
            <a:ext cx="16174415" cy="44435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FFA964A-84A6-12A0-9CB8-DF9CEF97B3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 r:link="rId6"/>
              </a:ext>
            </a:extLst>
          </a:blip>
          <a:stretch>
            <a:fillRect/>
          </a:stretch>
        </p:blipFill>
        <p:spPr>
          <a:xfrm>
            <a:off x="8818606" y="343654"/>
            <a:ext cx="3097221" cy="1085807"/>
          </a:xfrm>
          <a:prstGeom prst="rect">
            <a:avLst/>
          </a:prstGeom>
        </p:spPr>
      </p:pic>
      <p:pic>
        <p:nvPicPr>
          <p:cNvPr id="16" name="Picture 15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906DA0F4-D98B-1533-0C66-8D4C6DB83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173" y="181707"/>
            <a:ext cx="60960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1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8C74-30E1-6CE6-F5CC-E62EEA4E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FAFFBC-33E2-391B-9762-5AAE1AA13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142D6-0FDE-429F-D3AD-FF4A671AE26A}"/>
              </a:ext>
            </a:extLst>
          </p:cNvPr>
          <p:cNvSpPr/>
          <p:nvPr/>
        </p:nvSpPr>
        <p:spPr>
          <a:xfrm>
            <a:off x="4173903" y="1824818"/>
            <a:ext cx="3590856" cy="32083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3" descr="Image">
            <a:extLst>
              <a:ext uri="{FF2B5EF4-FFF2-40B4-BE49-F238E27FC236}">
                <a16:creationId xmlns:a16="http://schemas.microsoft.com/office/drawing/2014/main" id="{CF5199F0-1F5A-FD34-7880-CFECF709E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9" b="31077"/>
          <a:stretch>
            <a:fillRect/>
          </a:stretch>
        </p:blipFill>
        <p:spPr bwMode="auto">
          <a:xfrm>
            <a:off x="4173903" y="1860888"/>
            <a:ext cx="3590856" cy="31362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55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C366-CD66-64BE-6B42-AD860DBC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5AE536-B504-E6F7-F0A4-234B12C4432A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4DEB9-C1F4-2B96-38BF-D3EEB764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48" y="49140"/>
            <a:ext cx="11202464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important?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0167F8-68D1-8E0D-A55B-EAB7A92F5677}"/>
              </a:ext>
            </a:extLst>
          </p:cNvPr>
          <p:cNvSpPr txBox="1">
            <a:spLocks/>
          </p:cNvSpPr>
          <p:nvPr/>
        </p:nvSpPr>
        <p:spPr>
          <a:xfrm>
            <a:off x="0" y="4294081"/>
            <a:ext cx="4033726" cy="209299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60,000 hospital admissions every year (UK)</a:t>
            </a:r>
          </a:p>
          <a:p>
            <a:pPr algn="ctr"/>
            <a:r>
              <a:rPr lang="en-GB" sz="2400" dirty="0">
                <a:solidFill>
                  <a:srgbClr val="184F93"/>
                </a:solidFill>
              </a:rPr>
              <a:t>Avoidable asthma deaths</a:t>
            </a:r>
            <a:endParaRPr lang="en-GB" sz="2400" dirty="0">
              <a:solidFill>
                <a:srgbClr val="184F93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2400" dirty="0">
                <a:solidFill>
                  <a:srgbClr val="184F93"/>
                </a:solidFill>
                <a:cs typeface="Arial" panose="020B0604020202020204" pitchFamily="34" charset="0"/>
              </a:rPr>
              <a:t>High-risk period after discharge</a:t>
            </a:r>
          </a:p>
        </p:txBody>
      </p:sp>
      <p:pic>
        <p:nvPicPr>
          <p:cNvPr id="6" name="Picture 5" descr="respiratory admission.bmp">
            <a:extLst>
              <a:ext uri="{FF2B5EF4-FFF2-40B4-BE49-F238E27FC236}">
                <a16:creationId xmlns:a16="http://schemas.microsoft.com/office/drawing/2014/main" id="{4A110BBF-A234-9884-BAC6-F7446EEB9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306" y="2292710"/>
            <a:ext cx="2467404" cy="155941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7CD0CB-4A30-2DE1-8AC8-1C36ECA26018}"/>
              </a:ext>
            </a:extLst>
          </p:cNvPr>
          <p:cNvSpPr txBox="1"/>
          <p:nvPr/>
        </p:nvSpPr>
        <p:spPr>
          <a:xfrm>
            <a:off x="1571292" y="1691892"/>
            <a:ext cx="1305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Problem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BE7CB8-1C2A-0A94-1C96-3F8EF8A9F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10671641" y="6166772"/>
            <a:ext cx="1306065" cy="457873"/>
          </a:xfrm>
          <a:prstGeom prst="rect">
            <a:avLst/>
          </a:prstGeom>
        </p:spPr>
      </p:pic>
      <p:pic>
        <p:nvPicPr>
          <p:cNvPr id="11" name="Picture 10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518BD81F-FF3D-5312-E828-700A13973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958" y="6110881"/>
            <a:ext cx="2766683" cy="63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9BEB-1B70-9AEB-4D65-EC5FB83F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5EACF2-8898-B4D1-8D8C-16E19E8D55A9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0E6B3-BE96-E461-6E1B-9AC40C9E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48" y="49140"/>
            <a:ext cx="11202464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important?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616581-C178-D848-0230-EAA9B3ECC96B}"/>
              </a:ext>
            </a:extLst>
          </p:cNvPr>
          <p:cNvSpPr txBox="1">
            <a:spLocks/>
          </p:cNvSpPr>
          <p:nvPr/>
        </p:nvSpPr>
        <p:spPr>
          <a:xfrm>
            <a:off x="0" y="4294081"/>
            <a:ext cx="4033726" cy="209299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60,000 hospital admissions every year (UK)</a:t>
            </a:r>
          </a:p>
          <a:p>
            <a:pPr algn="ctr"/>
            <a:r>
              <a:rPr lang="en-GB" sz="2400" dirty="0">
                <a:solidFill>
                  <a:srgbClr val="184F93"/>
                </a:solidFill>
              </a:rPr>
              <a:t>Avoidable asthma deaths</a:t>
            </a:r>
            <a:endParaRPr lang="en-GB" sz="2400" dirty="0">
              <a:solidFill>
                <a:srgbClr val="184F93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2400" dirty="0">
                <a:solidFill>
                  <a:srgbClr val="184F93"/>
                </a:solidFill>
                <a:cs typeface="Arial" panose="020B0604020202020204" pitchFamily="34" charset="0"/>
              </a:rPr>
              <a:t>High-risk period after discharge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7A7C3C-2DF3-0DB0-0D51-2A1E111B3ACE}"/>
              </a:ext>
            </a:extLst>
          </p:cNvPr>
          <p:cNvSpPr txBox="1">
            <a:spLocks/>
          </p:cNvSpPr>
          <p:nvPr/>
        </p:nvSpPr>
        <p:spPr>
          <a:xfrm>
            <a:off x="4274906" y="4321069"/>
            <a:ext cx="3819432" cy="237913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Lack of objective markers</a:t>
            </a:r>
          </a:p>
          <a:p>
            <a:pPr algn="ctr"/>
            <a:r>
              <a:rPr lang="en-GB" sz="2400" dirty="0">
                <a:solidFill>
                  <a:srgbClr val="184F93"/>
                </a:solidFill>
              </a:rPr>
              <a:t>Warning signs are missed</a:t>
            </a:r>
          </a:p>
          <a:p>
            <a:pPr algn="ctr"/>
            <a:endParaRPr lang="en-GB" sz="2400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D78BF8-E8ED-8608-9507-B710CF6D7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095" y="2510697"/>
            <a:ext cx="2145693" cy="1177420"/>
          </a:xfrm>
          <a:prstGeom prst="rect">
            <a:avLst/>
          </a:prstGeom>
        </p:spPr>
      </p:pic>
      <p:pic>
        <p:nvPicPr>
          <p:cNvPr id="6" name="Picture 5" descr="respiratory admission.bmp">
            <a:extLst>
              <a:ext uri="{FF2B5EF4-FFF2-40B4-BE49-F238E27FC236}">
                <a16:creationId xmlns:a16="http://schemas.microsoft.com/office/drawing/2014/main" id="{E2D70846-9F42-2141-7407-7C7A1D861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306" y="2292710"/>
            <a:ext cx="2467404" cy="155941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D81EDA-9491-684A-FB93-9F2B7BF369A5}"/>
              </a:ext>
            </a:extLst>
          </p:cNvPr>
          <p:cNvSpPr txBox="1"/>
          <p:nvPr/>
        </p:nvSpPr>
        <p:spPr>
          <a:xfrm>
            <a:off x="1571292" y="1691892"/>
            <a:ext cx="1305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FE4AE9-73F5-53F4-39FD-BD907549C3D9}"/>
              </a:ext>
            </a:extLst>
          </p:cNvPr>
          <p:cNvSpPr txBox="1"/>
          <p:nvPr/>
        </p:nvSpPr>
        <p:spPr>
          <a:xfrm>
            <a:off x="5854819" y="1721487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Gap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E5A7EFE-6D39-4248-9AE3-FB939BECD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 r:link="rId6"/>
              </a:ext>
            </a:extLst>
          </a:blip>
          <a:stretch>
            <a:fillRect/>
          </a:stretch>
        </p:blipFill>
        <p:spPr>
          <a:xfrm>
            <a:off x="10671641" y="6166772"/>
            <a:ext cx="1306065" cy="457873"/>
          </a:xfrm>
          <a:prstGeom prst="rect">
            <a:avLst/>
          </a:prstGeom>
        </p:spPr>
      </p:pic>
      <p:pic>
        <p:nvPicPr>
          <p:cNvPr id="11" name="Picture 10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F6FEC5B1-2D58-8031-9478-1B1A7D48C1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958" y="6110881"/>
            <a:ext cx="2766683" cy="6397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5AB1F-5F5E-CEAD-91E3-0FAD0098C616}"/>
              </a:ext>
            </a:extLst>
          </p:cNvPr>
          <p:cNvSpPr/>
          <p:nvPr/>
        </p:nvSpPr>
        <p:spPr>
          <a:xfrm>
            <a:off x="0" y="1374703"/>
            <a:ext cx="4328407" cy="5012371"/>
          </a:xfrm>
          <a:prstGeom prst="rect">
            <a:avLst/>
          </a:prstGeom>
          <a:solidFill>
            <a:srgbClr val="FFFFFF">
              <a:alpha val="505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99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A62B-8BC2-54B1-5350-4110AD38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006011-6EB4-B7A6-3EF4-BE3400061696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F2AA3-581C-77DB-E32F-CC81C2AA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48" y="49140"/>
            <a:ext cx="11202464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important?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DBE397-31C3-D635-F476-56E5D7FE2B26}"/>
              </a:ext>
            </a:extLst>
          </p:cNvPr>
          <p:cNvSpPr txBox="1">
            <a:spLocks/>
          </p:cNvSpPr>
          <p:nvPr/>
        </p:nvSpPr>
        <p:spPr>
          <a:xfrm>
            <a:off x="0" y="4294081"/>
            <a:ext cx="4033726" cy="209299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60,000 hospital admissions every year (UK)</a:t>
            </a:r>
          </a:p>
          <a:p>
            <a:pPr algn="ctr"/>
            <a:r>
              <a:rPr lang="en-GB" sz="2400" dirty="0">
                <a:solidFill>
                  <a:srgbClr val="184F93"/>
                </a:solidFill>
              </a:rPr>
              <a:t>Avoidable asthma deaths</a:t>
            </a:r>
            <a:endParaRPr lang="en-GB" sz="2400" dirty="0">
              <a:solidFill>
                <a:srgbClr val="184F93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2400" dirty="0">
                <a:solidFill>
                  <a:srgbClr val="184F93"/>
                </a:solidFill>
                <a:cs typeface="Arial" panose="020B0604020202020204" pitchFamily="34" charset="0"/>
              </a:rPr>
              <a:t>High-risk period after discharge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9CF0D1-C439-78C9-5937-12BD65117437}"/>
              </a:ext>
            </a:extLst>
          </p:cNvPr>
          <p:cNvSpPr txBox="1">
            <a:spLocks/>
          </p:cNvSpPr>
          <p:nvPr/>
        </p:nvSpPr>
        <p:spPr>
          <a:xfrm>
            <a:off x="4274906" y="4321069"/>
            <a:ext cx="3819432" cy="237913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Lack of objective markers</a:t>
            </a:r>
          </a:p>
          <a:p>
            <a:pPr algn="ctr"/>
            <a:r>
              <a:rPr lang="en-GB" sz="2400" dirty="0">
                <a:solidFill>
                  <a:srgbClr val="184F93"/>
                </a:solidFill>
              </a:rPr>
              <a:t>Warning signs are missed</a:t>
            </a:r>
          </a:p>
          <a:p>
            <a:pPr algn="ctr"/>
            <a:endParaRPr lang="en-GB" sz="2400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5E3AD6-D854-1F85-3D0B-D6EC6B616BD1}"/>
              </a:ext>
            </a:extLst>
          </p:cNvPr>
          <p:cNvSpPr txBox="1">
            <a:spLocks/>
          </p:cNvSpPr>
          <p:nvPr/>
        </p:nvSpPr>
        <p:spPr>
          <a:xfrm>
            <a:off x="8303634" y="4293996"/>
            <a:ext cx="3674072" cy="134853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>
                <a:solidFill>
                  <a:srgbClr val="184F93"/>
                </a:solidFill>
              </a:rPr>
              <a:t>Intensive Care level monitoring now possible beyond hospital</a:t>
            </a:r>
          </a:p>
          <a:p>
            <a:pPr algn="ctr"/>
            <a:endParaRPr lang="en-GB" sz="2400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64A03-AA35-691E-953C-3F810219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095" y="2510697"/>
            <a:ext cx="2145693" cy="1177420"/>
          </a:xfrm>
          <a:prstGeom prst="rect">
            <a:avLst/>
          </a:prstGeom>
        </p:spPr>
      </p:pic>
      <p:pic>
        <p:nvPicPr>
          <p:cNvPr id="6" name="Picture 5" descr="respiratory admission.bmp">
            <a:extLst>
              <a:ext uri="{FF2B5EF4-FFF2-40B4-BE49-F238E27FC236}">
                <a16:creationId xmlns:a16="http://schemas.microsoft.com/office/drawing/2014/main" id="{5C625722-3571-6CB8-4191-342363761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306" y="2292710"/>
            <a:ext cx="2467404" cy="155941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C8A07-0557-637B-BCA3-50CCBF5E2E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86" b="15688"/>
          <a:stretch>
            <a:fillRect/>
          </a:stretch>
        </p:blipFill>
        <p:spPr>
          <a:xfrm>
            <a:off x="9064147" y="2292710"/>
            <a:ext cx="2145693" cy="15592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5FD17E-F299-F476-E55D-66884E1C7C7C}"/>
              </a:ext>
            </a:extLst>
          </p:cNvPr>
          <p:cNvSpPr txBox="1"/>
          <p:nvPr/>
        </p:nvSpPr>
        <p:spPr>
          <a:xfrm>
            <a:off x="1571292" y="1691892"/>
            <a:ext cx="1305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B7FD77-7C00-2040-E28C-ADE62F9E9429}"/>
              </a:ext>
            </a:extLst>
          </p:cNvPr>
          <p:cNvSpPr txBox="1"/>
          <p:nvPr/>
        </p:nvSpPr>
        <p:spPr>
          <a:xfrm>
            <a:off x="5854819" y="1721487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8D5A60-7BF6-A366-B7B0-B26E392F4F8D}"/>
              </a:ext>
            </a:extLst>
          </p:cNvPr>
          <p:cNvSpPr txBox="1"/>
          <p:nvPr/>
        </p:nvSpPr>
        <p:spPr>
          <a:xfrm>
            <a:off x="9597103" y="1691806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Solution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479E61-5BE1-7775-053F-BBD65D749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 r:link="rId6"/>
              </a:ext>
            </a:extLst>
          </a:blip>
          <a:stretch>
            <a:fillRect/>
          </a:stretch>
        </p:blipFill>
        <p:spPr>
          <a:xfrm>
            <a:off x="10671641" y="6166772"/>
            <a:ext cx="1306065" cy="457873"/>
          </a:xfrm>
          <a:prstGeom prst="rect">
            <a:avLst/>
          </a:prstGeom>
        </p:spPr>
      </p:pic>
      <p:pic>
        <p:nvPicPr>
          <p:cNvPr id="11" name="Picture 10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2261EDEA-4DB8-C72A-723F-3CB3C26582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958" y="6110881"/>
            <a:ext cx="2766683" cy="6397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E6B474-AF30-65A9-4DCB-07AF19DF1B9C}"/>
              </a:ext>
            </a:extLst>
          </p:cNvPr>
          <p:cNvSpPr/>
          <p:nvPr/>
        </p:nvSpPr>
        <p:spPr>
          <a:xfrm>
            <a:off x="0" y="1374703"/>
            <a:ext cx="7904958" cy="5012371"/>
          </a:xfrm>
          <a:prstGeom prst="rect">
            <a:avLst/>
          </a:prstGeom>
          <a:solidFill>
            <a:srgbClr val="FFFFFF">
              <a:alpha val="505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0D8D2-26A3-511D-E892-47BF110CEDE2}"/>
              </a:ext>
            </a:extLst>
          </p:cNvPr>
          <p:cNvSpPr txBox="1"/>
          <p:nvPr/>
        </p:nvSpPr>
        <p:spPr>
          <a:xfrm>
            <a:off x="178213" y="1538593"/>
            <a:ext cx="11736000" cy="5076000"/>
          </a:xfrm>
          <a:prstGeom prst="rect">
            <a:avLst/>
          </a:prstGeom>
          <a:solidFill>
            <a:schemeClr val="bg1"/>
          </a:solidFill>
          <a:ln w="28575">
            <a:solidFill>
              <a:srgbClr val="102060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sng" strike="noStrike" kern="1200" cap="none" spc="0" normalizeH="0" baseline="0" noProof="0" dirty="0">
              <a:ln>
                <a:noFill/>
              </a:ln>
              <a:solidFill>
                <a:srgbClr val="184F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sng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Vision</a:t>
            </a:r>
            <a:br>
              <a:rPr kumimoji="0" lang="en-GB" sz="3600" b="1" i="0" u="sng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endParaRPr lang="en-GB" sz="36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 defTabSz="685800">
              <a:defRPr/>
            </a:pPr>
            <a:r>
              <a:rPr lang="en-GB" sz="3600" b="1" dirty="0">
                <a:solidFill>
                  <a:srgbClr val="184F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enable proactive monitoring </a:t>
            </a:r>
            <a:br>
              <a:rPr lang="en-GB" sz="3600" b="1" dirty="0">
                <a:solidFill>
                  <a:srgbClr val="184F9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600" b="1" dirty="0">
                <a:solidFill>
                  <a:srgbClr val="184F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asthma in daily life</a:t>
            </a:r>
          </a:p>
          <a:p>
            <a:pPr algn="ctr">
              <a:defRPr/>
            </a:pPr>
            <a:endParaRPr lang="en-GB" sz="28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42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72F5-03D4-556A-1A12-5751274B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E41461-F7DA-FF85-5BD4-6EECD6BC3C95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6EA54-7626-20BA-79F1-7B6F2D09FF90}"/>
              </a:ext>
            </a:extLst>
          </p:cNvPr>
          <p:cNvSpPr txBox="1">
            <a:spLocks/>
          </p:cNvSpPr>
          <p:nvPr/>
        </p:nvSpPr>
        <p:spPr>
          <a:xfrm>
            <a:off x="278848" y="49140"/>
            <a:ext cx="11202464" cy="1325563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rgbClr val="184F93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/>
            <a:r>
              <a:rPr lang="en-GB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design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1795704-4AF9-14FF-C59B-A81CAD780C03}"/>
              </a:ext>
            </a:extLst>
          </p:cNvPr>
          <p:cNvGrpSpPr/>
          <p:nvPr/>
        </p:nvGrpSpPr>
        <p:grpSpPr>
          <a:xfrm>
            <a:off x="3802535" y="1440635"/>
            <a:ext cx="2137117" cy="1759324"/>
            <a:chOff x="1096007" y="1424997"/>
            <a:chExt cx="2137117" cy="1759324"/>
          </a:xfrm>
        </p:grpSpPr>
        <p:pic>
          <p:nvPicPr>
            <p:cNvPr id="61" name="Picture 4">
              <a:extLst>
                <a:ext uri="{FF2B5EF4-FFF2-40B4-BE49-F238E27FC236}">
                  <a16:creationId xmlns:a16="http://schemas.microsoft.com/office/drawing/2014/main" id="{1EF80BC1-0946-9145-71EC-7050B983B0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5" t="11736" r="21874" b="10203"/>
            <a:stretch>
              <a:fillRect/>
            </a:stretch>
          </p:blipFill>
          <p:spPr bwMode="auto">
            <a:xfrm>
              <a:off x="1096007" y="1875194"/>
              <a:ext cx="899401" cy="662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4168E5D-556B-980D-7CE2-2B0BE5BD5F62}"/>
                </a:ext>
              </a:extLst>
            </p:cNvPr>
            <p:cNvGrpSpPr/>
            <p:nvPr/>
          </p:nvGrpSpPr>
          <p:grpSpPr>
            <a:xfrm>
              <a:off x="1373310" y="1890454"/>
              <a:ext cx="1595309" cy="1293867"/>
              <a:chOff x="2908050" y="787575"/>
              <a:chExt cx="1196482" cy="970400"/>
            </a:xfrm>
          </p:grpSpPr>
          <p:sp>
            <p:nvSpPr>
              <p:cNvPr id="3072" name="TextBox 3071">
                <a:extLst>
                  <a:ext uri="{FF2B5EF4-FFF2-40B4-BE49-F238E27FC236}">
                    <a16:creationId xmlns:a16="http://schemas.microsoft.com/office/drawing/2014/main" id="{732EB63C-B526-F88E-37BA-525172FF7CBC}"/>
                  </a:ext>
                </a:extLst>
              </p:cNvPr>
              <p:cNvSpPr txBox="1"/>
              <p:nvPr/>
            </p:nvSpPr>
            <p:spPr>
              <a:xfrm>
                <a:off x="2908050" y="1480976"/>
                <a:ext cx="11964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77"/>
                <a:r>
                  <a:rPr lang="en-GB" dirty="0">
                    <a:solidFill>
                      <a:srgbClr val="000000"/>
                    </a:solidFill>
                    <a:latin typeface="Arial" panose="020B0604020202020204"/>
                  </a:rPr>
                  <a:t>Acute asthma</a:t>
                </a:r>
              </a:p>
            </p:txBody>
          </p:sp>
          <p:pic>
            <p:nvPicPr>
              <p:cNvPr id="3073" name="Graphic 3072" descr="Group outline">
                <a:extLst>
                  <a:ext uri="{FF2B5EF4-FFF2-40B4-BE49-F238E27FC236}">
                    <a16:creationId xmlns:a16="http://schemas.microsoft.com/office/drawing/2014/main" id="{75B53A29-7E88-41C9-3A9B-65FA45762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6317"/>
              <a:stretch>
                <a:fillRect/>
              </a:stretch>
            </p:blipFill>
            <p:spPr>
              <a:xfrm>
                <a:off x="3226942" y="787575"/>
                <a:ext cx="673760" cy="914400"/>
              </a:xfrm>
              <a:prstGeom prst="rect">
                <a:avLst/>
              </a:prstGeom>
            </p:spPr>
          </p:pic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FFE2CB1-76D0-F2C4-A2D6-DE1528D24CC2}"/>
                </a:ext>
              </a:extLst>
            </p:cNvPr>
            <p:cNvSpPr txBox="1"/>
            <p:nvPr/>
          </p:nvSpPr>
          <p:spPr>
            <a:xfrm>
              <a:off x="1246683" y="1424997"/>
              <a:ext cx="1986441" cy="420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en-GB" sz="2133" dirty="0">
                  <a:solidFill>
                    <a:srgbClr val="000000"/>
                  </a:solidFill>
                  <a:latin typeface="Arial" panose="020B0604020202020204"/>
                </a:rPr>
                <a:t>Asthma (n=64)</a:t>
              </a:r>
            </a:p>
          </p:txBody>
        </p:sp>
      </p:grpSp>
      <p:grpSp>
        <p:nvGrpSpPr>
          <p:cNvPr id="3074" name="Group 3073">
            <a:extLst>
              <a:ext uri="{FF2B5EF4-FFF2-40B4-BE49-F238E27FC236}">
                <a16:creationId xmlns:a16="http://schemas.microsoft.com/office/drawing/2014/main" id="{10AED34D-1082-9435-9730-9D5F0436F454}"/>
              </a:ext>
            </a:extLst>
          </p:cNvPr>
          <p:cNvGrpSpPr/>
          <p:nvPr/>
        </p:nvGrpSpPr>
        <p:grpSpPr>
          <a:xfrm>
            <a:off x="6488398" y="1418229"/>
            <a:ext cx="2077813" cy="1701990"/>
            <a:chOff x="9482632" y="1418229"/>
            <a:chExt cx="2077813" cy="1701990"/>
          </a:xfrm>
        </p:grpSpPr>
        <p:grpSp>
          <p:nvGrpSpPr>
            <p:cNvPr id="3075" name="Group 3074">
              <a:extLst>
                <a:ext uri="{FF2B5EF4-FFF2-40B4-BE49-F238E27FC236}">
                  <a16:creationId xmlns:a16="http://schemas.microsoft.com/office/drawing/2014/main" id="{D00ACA76-F76C-7411-9601-FE961C676BC6}"/>
                </a:ext>
              </a:extLst>
            </p:cNvPr>
            <p:cNvGrpSpPr/>
            <p:nvPr/>
          </p:nvGrpSpPr>
          <p:grpSpPr>
            <a:xfrm>
              <a:off x="9552169" y="1764151"/>
              <a:ext cx="1429564" cy="1356068"/>
              <a:chOff x="5785123" y="691415"/>
              <a:chExt cx="1072173" cy="1017051"/>
            </a:xfrm>
          </p:grpSpPr>
          <p:pic>
            <p:nvPicPr>
              <p:cNvPr id="3078" name="Graphic 3077" descr="House with solid fill">
                <a:extLst>
                  <a:ext uri="{FF2B5EF4-FFF2-40B4-BE49-F238E27FC236}">
                    <a16:creationId xmlns:a16="http://schemas.microsoft.com/office/drawing/2014/main" id="{F8176629-F9AA-61F9-FCF6-62546C4B2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85123" y="691415"/>
                <a:ext cx="559851" cy="559851"/>
              </a:xfrm>
              <a:prstGeom prst="rect">
                <a:avLst/>
              </a:prstGeom>
            </p:spPr>
          </p:pic>
          <p:pic>
            <p:nvPicPr>
              <p:cNvPr id="3079" name="Graphic 3078" descr="Group outline">
                <a:extLst>
                  <a:ext uri="{FF2B5EF4-FFF2-40B4-BE49-F238E27FC236}">
                    <a16:creationId xmlns:a16="http://schemas.microsoft.com/office/drawing/2014/main" id="{DE82CC49-F89A-2AE5-607E-7CA353197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r="26264"/>
              <a:stretch>
                <a:fillRect/>
              </a:stretch>
            </p:blipFill>
            <p:spPr>
              <a:xfrm>
                <a:off x="6183054" y="794066"/>
                <a:ext cx="674242" cy="914400"/>
              </a:xfrm>
              <a:prstGeom prst="rect">
                <a:avLst/>
              </a:prstGeom>
            </p:spPr>
          </p:pic>
        </p:grpSp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967741B0-EE44-02B5-5F85-2588A23C72B9}"/>
                </a:ext>
              </a:extLst>
            </p:cNvPr>
            <p:cNvSpPr txBox="1"/>
            <p:nvPr/>
          </p:nvSpPr>
          <p:spPr>
            <a:xfrm>
              <a:off x="9482632" y="1418229"/>
              <a:ext cx="2077813" cy="420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en-GB" sz="2133" dirty="0">
                  <a:solidFill>
                    <a:srgbClr val="000000"/>
                  </a:solidFill>
                  <a:latin typeface="Arial" panose="020B0604020202020204"/>
                </a:rPr>
                <a:t>Controls (n=64)</a:t>
              </a:r>
            </a:p>
          </p:txBody>
        </p:sp>
      </p:grpSp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E476DF8D-8702-56B8-385C-C5784B3EDF74}"/>
              </a:ext>
            </a:extLst>
          </p:cNvPr>
          <p:cNvGrpSpPr/>
          <p:nvPr/>
        </p:nvGrpSpPr>
        <p:grpSpPr>
          <a:xfrm>
            <a:off x="3200319" y="1474928"/>
            <a:ext cx="6012245" cy="4044472"/>
            <a:chOff x="3200319" y="1474928"/>
            <a:chExt cx="6012245" cy="4044472"/>
          </a:xfrm>
        </p:grpSpPr>
        <p:sp>
          <p:nvSpPr>
            <p:cNvPr id="3080" name="Rounded Rectangle 3079">
              <a:extLst>
                <a:ext uri="{FF2B5EF4-FFF2-40B4-BE49-F238E27FC236}">
                  <a16:creationId xmlns:a16="http://schemas.microsoft.com/office/drawing/2014/main" id="{CD7F4D7C-541B-2F41-5B37-353900B4C8DE}"/>
                </a:ext>
              </a:extLst>
            </p:cNvPr>
            <p:cNvSpPr/>
            <p:nvPr/>
          </p:nvSpPr>
          <p:spPr>
            <a:xfrm>
              <a:off x="3200319" y="1669427"/>
              <a:ext cx="6012245" cy="3849973"/>
            </a:xfrm>
            <a:prstGeom prst="roundRect">
              <a:avLst>
                <a:gd name="adj" fmla="val 5618"/>
              </a:avLst>
            </a:prstGeom>
            <a:noFill/>
            <a:ln w="25400" cap="flat" cmpd="sng" algn="ctr">
              <a:solidFill>
                <a:srgbClr val="002060"/>
              </a:solidFill>
              <a:prstDash val="solid"/>
            </a:ln>
            <a:effectLst/>
          </p:spPr>
          <p:txBody>
            <a:bodyPr lIns="0" rIns="0" rtlCol="0" anchor="t"/>
            <a:lstStyle/>
            <a:p>
              <a:pPr algn="ctr" defTabSz="1625275">
                <a:defRPr/>
              </a:pPr>
              <a:r>
                <a:rPr lang="en-GB" sz="1400" b="1" kern="0" dirty="0">
                  <a:solidFill>
                    <a:srgbClr val="FFFFFF"/>
                  </a:solidFill>
                  <a:latin typeface="Calibri"/>
                  <a:cs typeface="Arial" panose="020B0604020202020204" pitchFamily="34" charset="0"/>
                </a:rPr>
                <a:t>Assessments</a:t>
              </a:r>
            </a:p>
          </p:txBody>
        </p:sp>
        <p:sp>
          <p:nvSpPr>
            <p:cNvPr id="3084" name="TextBox 3083">
              <a:extLst>
                <a:ext uri="{FF2B5EF4-FFF2-40B4-BE49-F238E27FC236}">
                  <a16:creationId xmlns:a16="http://schemas.microsoft.com/office/drawing/2014/main" id="{9F2C6B93-165B-5C85-3778-955B504B731E}"/>
                </a:ext>
              </a:extLst>
            </p:cNvPr>
            <p:cNvSpPr txBox="1"/>
            <p:nvPr/>
          </p:nvSpPr>
          <p:spPr>
            <a:xfrm>
              <a:off x="5240991" y="1474928"/>
              <a:ext cx="1861844" cy="3282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txBody>
            <a:bodyPr wrap="none" lIns="48000" tIns="0" rIns="48000" bIns="0" rtlCol="0">
              <a:spAutoFit/>
            </a:bodyPr>
            <a:lstStyle/>
            <a:p>
              <a:pPr defTabSz="914377"/>
              <a:r>
                <a:rPr lang="en-GB" sz="2133" b="1" dirty="0">
                  <a:solidFill>
                    <a:srgbClr val="000000"/>
                  </a:solidFill>
                  <a:latin typeface="Arial" panose="020B0604020202020204"/>
                </a:rPr>
                <a:t>Assessments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D2952780-EDA2-0EF9-7527-5184A4E47A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 r:link="rId10"/>
              </a:ext>
            </a:extLst>
          </a:blip>
          <a:stretch>
            <a:fillRect/>
          </a:stretch>
        </p:blipFill>
        <p:spPr>
          <a:xfrm>
            <a:off x="10671641" y="6166772"/>
            <a:ext cx="1306065" cy="457873"/>
          </a:xfrm>
          <a:prstGeom prst="rect">
            <a:avLst/>
          </a:prstGeom>
        </p:spPr>
      </p:pic>
      <p:pic>
        <p:nvPicPr>
          <p:cNvPr id="5" name="Picture 4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272F773F-9515-69D9-084A-888C69519F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4958" y="6110881"/>
            <a:ext cx="2766683" cy="63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1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44444E-6 L -0.22135 -0.00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68" y="-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59 0.00162 L 0.24401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30" y="-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193A-5BBE-6F48-6F1B-9BB061CC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DCD40E-9C4A-0D8C-2117-95186E51BD1E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06634-88B9-F64D-6476-E33365F15B3B}"/>
              </a:ext>
            </a:extLst>
          </p:cNvPr>
          <p:cNvSpPr txBox="1">
            <a:spLocks/>
          </p:cNvSpPr>
          <p:nvPr/>
        </p:nvSpPr>
        <p:spPr>
          <a:xfrm>
            <a:off x="278848" y="49140"/>
            <a:ext cx="11202464" cy="1325563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rgbClr val="184F93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/>
            <a:r>
              <a:rPr lang="en-GB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design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2234453-ECAE-EC7B-B7BA-35D5702BF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5" t="11736" r="21874" b="10203"/>
          <a:stretch>
            <a:fillRect/>
          </a:stretch>
        </p:blipFill>
        <p:spPr bwMode="auto">
          <a:xfrm>
            <a:off x="1096007" y="1875194"/>
            <a:ext cx="899401" cy="66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1546C23-2232-E026-1693-7952BA2A506F}"/>
              </a:ext>
            </a:extLst>
          </p:cNvPr>
          <p:cNvGrpSpPr/>
          <p:nvPr/>
        </p:nvGrpSpPr>
        <p:grpSpPr>
          <a:xfrm>
            <a:off x="1373310" y="1890454"/>
            <a:ext cx="1595309" cy="1293867"/>
            <a:chOff x="2908050" y="787575"/>
            <a:chExt cx="1196482" cy="97040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F27DFB-7AF4-0FD0-0C47-17FC6CEB7D18}"/>
                </a:ext>
              </a:extLst>
            </p:cNvPr>
            <p:cNvSpPr txBox="1"/>
            <p:nvPr/>
          </p:nvSpPr>
          <p:spPr>
            <a:xfrm>
              <a:off x="2908050" y="1480976"/>
              <a:ext cx="11964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en-GB" dirty="0">
                  <a:solidFill>
                    <a:srgbClr val="000000"/>
                  </a:solidFill>
                  <a:latin typeface="Arial" panose="020B0604020202020204"/>
                </a:rPr>
                <a:t>Acute asthma</a:t>
              </a:r>
            </a:p>
          </p:txBody>
        </p:sp>
        <p:pic>
          <p:nvPicPr>
            <p:cNvPr id="23" name="Graphic 22" descr="Group outline">
              <a:extLst>
                <a:ext uri="{FF2B5EF4-FFF2-40B4-BE49-F238E27FC236}">
                  <a16:creationId xmlns:a16="http://schemas.microsoft.com/office/drawing/2014/main" id="{E0D08FC5-EC07-E03E-657D-698E6F83E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6317"/>
            <a:stretch>
              <a:fillRect/>
            </a:stretch>
          </p:blipFill>
          <p:spPr>
            <a:xfrm>
              <a:off x="3226942" y="787575"/>
              <a:ext cx="673760" cy="914400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D54772-8E52-EBD2-83FF-DA98DE79484C}"/>
              </a:ext>
            </a:extLst>
          </p:cNvPr>
          <p:cNvCxnSpPr>
            <a:cxnSpLocks/>
          </p:cNvCxnSpPr>
          <p:nvPr/>
        </p:nvCxnSpPr>
        <p:spPr>
          <a:xfrm flipV="1">
            <a:off x="2696845" y="2523825"/>
            <a:ext cx="493096" cy="83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172F30BB-8525-34A9-29D1-9343FD935E57}"/>
              </a:ext>
            </a:extLst>
          </p:cNvPr>
          <p:cNvSpPr/>
          <p:nvPr/>
        </p:nvSpPr>
        <p:spPr>
          <a:xfrm>
            <a:off x="2828340" y="2364569"/>
            <a:ext cx="287867" cy="3318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dirty="0">
                <a:solidFill>
                  <a:srgbClr val="000000"/>
                </a:solidFill>
                <a:latin typeface="Arial" panose="020B0604020202020204"/>
              </a:rPr>
              <a:t>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E0A04A-5948-296F-456D-8A46E60405FF}"/>
              </a:ext>
            </a:extLst>
          </p:cNvPr>
          <p:cNvGrpSpPr/>
          <p:nvPr/>
        </p:nvGrpSpPr>
        <p:grpSpPr>
          <a:xfrm>
            <a:off x="1249824" y="3184321"/>
            <a:ext cx="1938436" cy="1730836"/>
            <a:chOff x="1249824" y="3184321"/>
            <a:chExt cx="1938436" cy="173083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6BA8422-5C95-69C1-DA16-B58258810462}"/>
                </a:ext>
              </a:extLst>
            </p:cNvPr>
            <p:cNvGrpSpPr/>
            <p:nvPr/>
          </p:nvGrpSpPr>
          <p:grpSpPr>
            <a:xfrm>
              <a:off x="1249824" y="3582746"/>
              <a:ext cx="1375785" cy="1332411"/>
              <a:chOff x="2802864" y="3756687"/>
              <a:chExt cx="1031839" cy="999308"/>
            </a:xfrm>
          </p:grpSpPr>
          <p:pic>
            <p:nvPicPr>
              <p:cNvPr id="29" name="Graphic 28" descr="House with solid fill">
                <a:extLst>
                  <a:ext uri="{FF2B5EF4-FFF2-40B4-BE49-F238E27FC236}">
                    <a16:creationId xmlns:a16="http://schemas.microsoft.com/office/drawing/2014/main" id="{5D49F32D-C16A-0E93-6A87-7EA9BE564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2864" y="3756687"/>
                <a:ext cx="559851" cy="559851"/>
              </a:xfrm>
              <a:prstGeom prst="rect">
                <a:avLst/>
              </a:prstGeom>
            </p:spPr>
          </p:pic>
          <p:pic>
            <p:nvPicPr>
              <p:cNvPr id="30" name="Graphic 29" descr="Group outline">
                <a:extLst>
                  <a:ext uri="{FF2B5EF4-FFF2-40B4-BE49-F238E27FC236}">
                    <a16:creationId xmlns:a16="http://schemas.microsoft.com/office/drawing/2014/main" id="{5003BA7A-6E74-13CA-9A87-5C9A0DE52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8296"/>
              <a:stretch>
                <a:fillRect/>
              </a:stretch>
            </p:blipFill>
            <p:spPr>
              <a:xfrm>
                <a:off x="3179043" y="3841595"/>
                <a:ext cx="655660" cy="914400"/>
              </a:xfrm>
              <a:prstGeom prst="rect">
                <a:avLst/>
              </a:prstGeom>
            </p:spPr>
          </p:pic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B855659-EBEE-E218-947F-68A4FF42ED6B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2170965" y="3184321"/>
              <a:ext cx="0" cy="60969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B742EC7-3BF0-F383-E886-48F37EB1FFF9}"/>
                </a:ext>
              </a:extLst>
            </p:cNvPr>
            <p:cNvCxnSpPr>
              <a:cxnSpLocks/>
            </p:cNvCxnSpPr>
            <p:nvPr/>
          </p:nvCxnSpPr>
          <p:spPr>
            <a:xfrm>
              <a:off x="2711925" y="4409162"/>
              <a:ext cx="47633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E61C738-DC5D-6892-F7AD-5259AA9680A7}"/>
                </a:ext>
              </a:extLst>
            </p:cNvPr>
            <p:cNvSpPr/>
            <p:nvPr/>
          </p:nvSpPr>
          <p:spPr>
            <a:xfrm>
              <a:off x="2822241" y="4240044"/>
              <a:ext cx="287867" cy="3318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r>
                <a:rPr lang="en-GB" dirty="0">
                  <a:solidFill>
                    <a:srgbClr val="000000"/>
                  </a:solidFill>
                  <a:latin typeface="Arial" panose="020B0604020202020204"/>
                </a:rPr>
                <a:t>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DB0ABC-9A44-85F0-F224-191BE1792449}"/>
              </a:ext>
            </a:extLst>
          </p:cNvPr>
          <p:cNvGrpSpPr/>
          <p:nvPr/>
        </p:nvGrpSpPr>
        <p:grpSpPr>
          <a:xfrm>
            <a:off x="9552169" y="1764151"/>
            <a:ext cx="1429564" cy="1356068"/>
            <a:chOff x="5785123" y="691415"/>
            <a:chExt cx="1072173" cy="1017051"/>
          </a:xfrm>
        </p:grpSpPr>
        <p:pic>
          <p:nvPicPr>
            <p:cNvPr id="26" name="Graphic 25" descr="House with solid fill">
              <a:extLst>
                <a:ext uri="{FF2B5EF4-FFF2-40B4-BE49-F238E27FC236}">
                  <a16:creationId xmlns:a16="http://schemas.microsoft.com/office/drawing/2014/main" id="{96099E92-E2F7-1F34-25BB-E3D08E886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85123" y="691415"/>
              <a:ext cx="559851" cy="559851"/>
            </a:xfrm>
            <a:prstGeom prst="rect">
              <a:avLst/>
            </a:prstGeom>
          </p:spPr>
        </p:pic>
        <p:pic>
          <p:nvPicPr>
            <p:cNvPr id="27" name="Graphic 26" descr="Group outline">
              <a:extLst>
                <a:ext uri="{FF2B5EF4-FFF2-40B4-BE49-F238E27FC236}">
                  <a16:creationId xmlns:a16="http://schemas.microsoft.com/office/drawing/2014/main" id="{F2B1F6EE-6B8D-CA3C-8DFD-729E72BEC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r="26264"/>
            <a:stretch>
              <a:fillRect/>
            </a:stretch>
          </p:blipFill>
          <p:spPr>
            <a:xfrm>
              <a:off x="6183054" y="794066"/>
              <a:ext cx="674242" cy="914400"/>
            </a:xfrm>
            <a:prstGeom prst="rect">
              <a:avLst/>
            </a:prstGeom>
          </p:spPr>
        </p:pic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9F64BB-923E-4219-4CE7-A1BB0F1A121F}"/>
              </a:ext>
            </a:extLst>
          </p:cNvPr>
          <p:cNvCxnSpPr>
            <a:cxnSpLocks/>
          </p:cNvCxnSpPr>
          <p:nvPr/>
        </p:nvCxnSpPr>
        <p:spPr>
          <a:xfrm flipV="1">
            <a:off x="9225339" y="2539396"/>
            <a:ext cx="493096" cy="83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A20B1DB-A792-7743-9BEF-9FAEC03373E3}"/>
              </a:ext>
            </a:extLst>
          </p:cNvPr>
          <p:cNvSpPr/>
          <p:nvPr/>
        </p:nvSpPr>
        <p:spPr>
          <a:xfrm>
            <a:off x="9356833" y="2380140"/>
            <a:ext cx="287867" cy="3318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dirty="0">
                <a:solidFill>
                  <a:srgbClr val="000000"/>
                </a:solidFill>
                <a:latin typeface="Arial" panose="020B0604020202020204"/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E8BD37-3B51-449D-2D70-D2871EC9B2D7}"/>
              </a:ext>
            </a:extLst>
          </p:cNvPr>
          <p:cNvGrpSpPr/>
          <p:nvPr/>
        </p:nvGrpSpPr>
        <p:grpSpPr>
          <a:xfrm>
            <a:off x="9218480" y="3074259"/>
            <a:ext cx="1803608" cy="1938953"/>
            <a:chOff x="9218480" y="3074259"/>
            <a:chExt cx="1803608" cy="193895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51BBFA8-D2A7-6814-0C42-F3FB4B02184A}"/>
                </a:ext>
              </a:extLst>
            </p:cNvPr>
            <p:cNvCxnSpPr>
              <a:cxnSpLocks/>
            </p:cNvCxnSpPr>
            <p:nvPr/>
          </p:nvCxnSpPr>
          <p:spPr>
            <a:xfrm>
              <a:off x="10545251" y="3074259"/>
              <a:ext cx="0" cy="85709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D5CC3DB-AABA-3F72-B4B5-06CB022EE78C}"/>
                </a:ext>
              </a:extLst>
            </p:cNvPr>
            <p:cNvCxnSpPr>
              <a:cxnSpLocks/>
            </p:cNvCxnSpPr>
            <p:nvPr/>
          </p:nvCxnSpPr>
          <p:spPr>
            <a:xfrm>
              <a:off x="9218480" y="4432064"/>
              <a:ext cx="47633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9831142-6A57-F44D-B592-439214EC4F06}"/>
                </a:ext>
              </a:extLst>
            </p:cNvPr>
            <p:cNvSpPr/>
            <p:nvPr/>
          </p:nvSpPr>
          <p:spPr>
            <a:xfrm>
              <a:off x="9328796" y="4262945"/>
              <a:ext cx="287867" cy="3318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r>
                <a:rPr lang="en-GB" dirty="0">
                  <a:solidFill>
                    <a:srgbClr val="000000"/>
                  </a:solidFill>
                  <a:latin typeface="Arial" panose="020B0604020202020204"/>
                </a:rPr>
                <a:t>2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6F214B4-6CEF-D533-4E45-A14E1089557B}"/>
                </a:ext>
              </a:extLst>
            </p:cNvPr>
            <p:cNvGrpSpPr/>
            <p:nvPr/>
          </p:nvGrpSpPr>
          <p:grpSpPr>
            <a:xfrm>
              <a:off x="9587820" y="3657144"/>
              <a:ext cx="1434268" cy="1356068"/>
              <a:chOff x="5785123" y="3779743"/>
              <a:chExt cx="1075701" cy="1017051"/>
            </a:xfrm>
          </p:grpSpPr>
          <p:pic>
            <p:nvPicPr>
              <p:cNvPr id="42" name="Graphic 41" descr="House with solid fill">
                <a:extLst>
                  <a:ext uri="{FF2B5EF4-FFF2-40B4-BE49-F238E27FC236}">
                    <a16:creationId xmlns:a16="http://schemas.microsoft.com/office/drawing/2014/main" id="{83B1E0A4-F78D-3682-A8F0-09864FCE5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85123" y="3779743"/>
                <a:ext cx="559851" cy="559851"/>
              </a:xfrm>
              <a:prstGeom prst="rect">
                <a:avLst/>
              </a:prstGeom>
            </p:spPr>
          </p:pic>
          <p:pic>
            <p:nvPicPr>
              <p:cNvPr id="43" name="Graphic 42" descr="Group outline">
                <a:extLst>
                  <a:ext uri="{FF2B5EF4-FFF2-40B4-BE49-F238E27FC236}">
                    <a16:creationId xmlns:a16="http://schemas.microsoft.com/office/drawing/2014/main" id="{1BBA8C72-0D1D-0D16-2ACE-9313EF5DF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r="26264"/>
              <a:stretch>
                <a:fillRect/>
              </a:stretch>
            </p:blipFill>
            <p:spPr>
              <a:xfrm>
                <a:off x="6186582" y="3882394"/>
                <a:ext cx="674242" cy="914400"/>
              </a:xfrm>
              <a:prstGeom prst="rect">
                <a:avLst/>
              </a:prstGeom>
            </p:spPr>
          </p:pic>
        </p:grpSp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FFB8A77-4158-B33B-1325-9EE40A7735A1}"/>
              </a:ext>
            </a:extLst>
          </p:cNvPr>
          <p:cNvSpPr/>
          <p:nvPr/>
        </p:nvSpPr>
        <p:spPr>
          <a:xfrm>
            <a:off x="3200319" y="1669427"/>
            <a:ext cx="6012245" cy="3849973"/>
          </a:xfrm>
          <a:prstGeom prst="roundRect">
            <a:avLst>
              <a:gd name="adj" fmla="val 5618"/>
            </a:avLst>
          </a:prstGeom>
          <a:noFill/>
          <a:ln w="25400" cap="flat" cmpd="sng" algn="ctr">
            <a:solidFill>
              <a:srgbClr val="002060"/>
            </a:solidFill>
            <a:prstDash val="solid"/>
          </a:ln>
          <a:effectLst/>
        </p:spPr>
        <p:txBody>
          <a:bodyPr lIns="0" rIns="0" rtlCol="0" anchor="t"/>
          <a:lstStyle/>
          <a:p>
            <a:pPr algn="ctr" defTabSz="1625275">
              <a:defRPr/>
            </a:pPr>
            <a:r>
              <a:rPr lang="en-GB" sz="1400" b="1" kern="0" dirty="0">
                <a:solidFill>
                  <a:srgbClr val="FFFFFF"/>
                </a:solidFill>
                <a:latin typeface="Calibri"/>
                <a:cs typeface="Arial" panose="020B0604020202020204" pitchFamily="34" charset="0"/>
              </a:rPr>
              <a:t>Assessments</a:t>
            </a:r>
          </a:p>
        </p:txBody>
      </p:sp>
      <p:pic>
        <p:nvPicPr>
          <p:cNvPr id="12" name="Graphic 11" descr="Lungs outline">
            <a:extLst>
              <a:ext uri="{FF2B5EF4-FFF2-40B4-BE49-F238E27FC236}">
                <a16:creationId xmlns:a16="http://schemas.microsoft.com/office/drawing/2014/main" id="{AE7C10D1-76FA-4C0F-FAEC-0287FECB0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3498" y="3099560"/>
            <a:ext cx="640773" cy="64077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7DA0ABD-1C67-B63E-5598-D6CC1E5A403F}"/>
              </a:ext>
            </a:extLst>
          </p:cNvPr>
          <p:cNvSpPr txBox="1"/>
          <p:nvPr/>
        </p:nvSpPr>
        <p:spPr>
          <a:xfrm>
            <a:off x="6046177" y="2846132"/>
            <a:ext cx="2800764" cy="1080000"/>
          </a:xfrm>
          <a:prstGeom prst="roundRect">
            <a:avLst/>
          </a:prstGeom>
          <a:solidFill>
            <a:srgbClr val="002060">
              <a:alpha val="32157"/>
            </a:srgbClr>
          </a:solidFill>
        </p:spPr>
        <p:txBody>
          <a:bodyPr wrap="square" lIns="48000" tIns="0" rIns="48000" bIns="0" rtlCol="0">
            <a:spAutoFit/>
          </a:bodyPr>
          <a:lstStyle/>
          <a:p>
            <a:pPr algn="ctr" defTabSz="914377"/>
            <a:r>
              <a:rPr lang="en-GB" b="1" dirty="0">
                <a:solidFill>
                  <a:srgbClr val="000000"/>
                </a:solidFill>
                <a:latin typeface="Arial" panose="020B0604020202020204"/>
              </a:rPr>
              <a:t>Phenotyping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6ABE07-34BF-6443-F65C-2807F83C1ED4}"/>
              </a:ext>
            </a:extLst>
          </p:cNvPr>
          <p:cNvSpPr txBox="1"/>
          <p:nvPr/>
        </p:nvSpPr>
        <p:spPr>
          <a:xfrm>
            <a:off x="6790409" y="4169364"/>
            <a:ext cx="2328171" cy="1080000"/>
          </a:xfrm>
          <a:prstGeom prst="roundRect">
            <a:avLst/>
          </a:prstGeom>
          <a:solidFill>
            <a:srgbClr val="002060">
              <a:alpha val="32157"/>
            </a:srgbClr>
          </a:solidFill>
        </p:spPr>
        <p:txBody>
          <a:bodyPr wrap="square" lIns="48000" tIns="0" rIns="48000" bIns="0" rtlCol="0">
            <a:spAutoFit/>
          </a:bodyPr>
          <a:lstStyle/>
          <a:p>
            <a:pPr algn="ctr" defTabSz="914377"/>
            <a:r>
              <a:rPr lang="en-GB" b="1" dirty="0">
                <a:solidFill>
                  <a:srgbClr val="000000"/>
                </a:solidFill>
                <a:latin typeface="Arial" panose="020B0604020202020204"/>
              </a:rPr>
              <a:t>Health care 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792C57-FCC4-CA2F-0E15-7359FFBCAD17}"/>
              </a:ext>
            </a:extLst>
          </p:cNvPr>
          <p:cNvSpPr txBox="1"/>
          <p:nvPr/>
        </p:nvSpPr>
        <p:spPr>
          <a:xfrm>
            <a:off x="5240991" y="1474928"/>
            <a:ext cx="1861844" cy="328231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none" lIns="48000" tIns="0" rIns="48000" bIns="0" rtlCol="0">
            <a:spAutoFit/>
          </a:bodyPr>
          <a:lstStyle/>
          <a:p>
            <a:pPr defTabSz="914377"/>
            <a:r>
              <a:rPr lang="en-GB" sz="2133" b="1" dirty="0">
                <a:solidFill>
                  <a:srgbClr val="000000"/>
                </a:solidFill>
                <a:latin typeface="Arial" panose="020B0604020202020204"/>
              </a:rPr>
              <a:t>Assessments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66EE2F-C12B-7C6C-5530-F56850C26FEF}"/>
              </a:ext>
            </a:extLst>
          </p:cNvPr>
          <p:cNvSpPr txBox="1"/>
          <p:nvPr/>
        </p:nvSpPr>
        <p:spPr>
          <a:xfrm>
            <a:off x="3561776" y="2840333"/>
            <a:ext cx="2333200" cy="1080000"/>
          </a:xfrm>
          <a:prstGeom prst="roundRect">
            <a:avLst/>
          </a:prstGeom>
          <a:solidFill>
            <a:srgbClr val="002060">
              <a:alpha val="32157"/>
            </a:srgbClr>
          </a:solidFill>
        </p:spPr>
        <p:txBody>
          <a:bodyPr wrap="square" lIns="48000" tIns="0" rIns="48000" bIns="0" rtlCol="0">
            <a:spAutoFit/>
          </a:bodyPr>
          <a:lstStyle/>
          <a:p>
            <a:pPr algn="ctr" defTabSz="914377"/>
            <a:r>
              <a:rPr lang="en-GB" b="1" dirty="0">
                <a:solidFill>
                  <a:srgbClr val="000000"/>
                </a:solidFill>
                <a:latin typeface="Arial" panose="020B0604020202020204"/>
              </a:rPr>
              <a:t>Clinical data</a:t>
            </a:r>
          </a:p>
        </p:txBody>
      </p:sp>
      <p:pic>
        <p:nvPicPr>
          <p:cNvPr id="14" name="Graphic 13" descr="Stethoscope outline">
            <a:extLst>
              <a:ext uri="{FF2B5EF4-FFF2-40B4-BE49-F238E27FC236}">
                <a16:creationId xmlns:a16="http://schemas.microsoft.com/office/drawing/2014/main" id="{A505EEF9-C6A8-E0FD-E09B-4733D9E796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2786" y="3205492"/>
            <a:ext cx="566573" cy="56657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0F8A324-710C-6B63-F2B0-D9C8995F6B22}"/>
              </a:ext>
            </a:extLst>
          </p:cNvPr>
          <p:cNvSpPr txBox="1"/>
          <p:nvPr/>
        </p:nvSpPr>
        <p:spPr>
          <a:xfrm>
            <a:off x="3330355" y="4169364"/>
            <a:ext cx="3284511" cy="1080000"/>
          </a:xfrm>
          <a:prstGeom prst="roundRect">
            <a:avLst/>
          </a:prstGeom>
          <a:solidFill>
            <a:srgbClr val="002060">
              <a:alpha val="32157"/>
            </a:srgbClr>
          </a:solidFill>
        </p:spPr>
        <p:txBody>
          <a:bodyPr wrap="square" lIns="48000" tIns="0" rIns="48000" bIns="0" rtlCol="0">
            <a:spAutoFit/>
          </a:bodyPr>
          <a:lstStyle/>
          <a:p>
            <a:pPr algn="ctr" defTabSz="914377"/>
            <a:r>
              <a:rPr lang="en-GB" b="1" dirty="0">
                <a:solidFill>
                  <a:srgbClr val="000000"/>
                </a:solidFill>
                <a:latin typeface="Arial" panose="020B0604020202020204"/>
              </a:rPr>
              <a:t>Patient Reported Outcomes</a:t>
            </a:r>
          </a:p>
        </p:txBody>
      </p:sp>
      <p:pic>
        <p:nvPicPr>
          <p:cNvPr id="59" name="Graphic 58" descr="Clipboard Partially Ticked outline">
            <a:extLst>
              <a:ext uri="{FF2B5EF4-FFF2-40B4-BE49-F238E27FC236}">
                <a16:creationId xmlns:a16="http://schemas.microsoft.com/office/drawing/2014/main" id="{F2C4F842-01A7-517C-A254-E9EAF1B8F2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30070" y="4507107"/>
            <a:ext cx="712003" cy="712003"/>
          </a:xfrm>
          <a:prstGeom prst="rect">
            <a:avLst/>
          </a:prstGeom>
        </p:spPr>
      </p:pic>
      <p:sp>
        <p:nvSpPr>
          <p:cNvPr id="3082" name="TextBox 3081">
            <a:extLst>
              <a:ext uri="{FF2B5EF4-FFF2-40B4-BE49-F238E27FC236}">
                <a16:creationId xmlns:a16="http://schemas.microsoft.com/office/drawing/2014/main" id="{425C0C44-7506-0CBA-CBF5-91D2CEF5960C}"/>
              </a:ext>
            </a:extLst>
          </p:cNvPr>
          <p:cNvSpPr txBox="1"/>
          <p:nvPr/>
        </p:nvSpPr>
        <p:spPr>
          <a:xfrm>
            <a:off x="1246683" y="1424997"/>
            <a:ext cx="111120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GB" sz="2133" dirty="0">
                <a:solidFill>
                  <a:srgbClr val="000000"/>
                </a:solidFill>
                <a:latin typeface="Arial" panose="020B0604020202020204"/>
              </a:rPr>
              <a:t>Asthma</a:t>
            </a:r>
          </a:p>
        </p:txBody>
      </p:sp>
      <p:sp>
        <p:nvSpPr>
          <p:cNvPr id="3083" name="TextBox 3082">
            <a:extLst>
              <a:ext uri="{FF2B5EF4-FFF2-40B4-BE49-F238E27FC236}">
                <a16:creationId xmlns:a16="http://schemas.microsoft.com/office/drawing/2014/main" id="{70582652-2EE1-D515-2E30-C9D3B159F54D}"/>
              </a:ext>
            </a:extLst>
          </p:cNvPr>
          <p:cNvSpPr txBox="1"/>
          <p:nvPr/>
        </p:nvSpPr>
        <p:spPr>
          <a:xfrm>
            <a:off x="9482632" y="1418229"/>
            <a:ext cx="1202573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GB" sz="2133" dirty="0">
                <a:solidFill>
                  <a:srgbClr val="000000"/>
                </a:solidFill>
                <a:latin typeface="Arial" panose="020B0604020202020204"/>
              </a:rPr>
              <a:t>Controls</a:t>
            </a:r>
          </a:p>
        </p:txBody>
      </p:sp>
      <p:pic>
        <p:nvPicPr>
          <p:cNvPr id="3088" name="Graphic 3087" descr="Medical outline">
            <a:extLst>
              <a:ext uri="{FF2B5EF4-FFF2-40B4-BE49-F238E27FC236}">
                <a16:creationId xmlns:a16="http://schemas.microsoft.com/office/drawing/2014/main" id="{E7EC5762-0B7C-2E7D-315B-A0047006BB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48669" y="4520382"/>
            <a:ext cx="576000" cy="576000"/>
          </a:xfrm>
          <a:prstGeom prst="rect">
            <a:avLst/>
          </a:prstGeom>
        </p:spPr>
      </p:pic>
      <p:grpSp>
        <p:nvGrpSpPr>
          <p:cNvPr id="3104" name="Group 3103">
            <a:extLst>
              <a:ext uri="{FF2B5EF4-FFF2-40B4-BE49-F238E27FC236}">
                <a16:creationId xmlns:a16="http://schemas.microsoft.com/office/drawing/2014/main" id="{DD6EF3D6-792C-450C-8C64-483D7E9B2FF2}"/>
              </a:ext>
            </a:extLst>
          </p:cNvPr>
          <p:cNvGrpSpPr/>
          <p:nvPr/>
        </p:nvGrpSpPr>
        <p:grpSpPr>
          <a:xfrm>
            <a:off x="3561777" y="1954484"/>
            <a:ext cx="5285164" cy="576000"/>
            <a:chOff x="2671332" y="1465863"/>
            <a:chExt cx="3963873" cy="432000"/>
          </a:xfrm>
        </p:grpSpPr>
        <p:grpSp>
          <p:nvGrpSpPr>
            <p:cNvPr id="3105" name="Group 3104">
              <a:extLst>
                <a:ext uri="{FF2B5EF4-FFF2-40B4-BE49-F238E27FC236}">
                  <a16:creationId xmlns:a16="http://schemas.microsoft.com/office/drawing/2014/main" id="{6FF6BB2D-3397-4685-1291-0AE0DAE18F85}"/>
                </a:ext>
              </a:extLst>
            </p:cNvPr>
            <p:cNvGrpSpPr/>
            <p:nvPr/>
          </p:nvGrpSpPr>
          <p:grpSpPr>
            <a:xfrm>
              <a:off x="2671332" y="1465863"/>
              <a:ext cx="3963873" cy="432000"/>
              <a:chOff x="3057545" y="2701689"/>
              <a:chExt cx="3963873" cy="432000"/>
            </a:xfrm>
          </p:grpSpPr>
          <p:sp>
            <p:nvSpPr>
              <p:cNvPr id="3108" name="TextBox 3107">
                <a:extLst>
                  <a:ext uri="{FF2B5EF4-FFF2-40B4-BE49-F238E27FC236}">
                    <a16:creationId xmlns:a16="http://schemas.microsoft.com/office/drawing/2014/main" id="{939A41D7-96A6-3111-E04C-43EA353E8624}"/>
                  </a:ext>
                </a:extLst>
              </p:cNvPr>
              <p:cNvSpPr txBox="1"/>
              <p:nvPr/>
            </p:nvSpPr>
            <p:spPr>
              <a:xfrm>
                <a:off x="3057545" y="2701689"/>
                <a:ext cx="3963873" cy="432000"/>
              </a:xfrm>
              <a:prstGeom prst="round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 defTabSz="914377"/>
                <a:r>
                  <a:rPr lang="en-GB" b="1" dirty="0">
                    <a:solidFill>
                      <a:srgbClr val="000000"/>
                    </a:solidFill>
                    <a:latin typeface="Arial" panose="020B0604020202020204"/>
                  </a:rPr>
                  <a:t>Wearable</a:t>
                </a:r>
              </a:p>
            </p:txBody>
          </p:sp>
          <p:pic>
            <p:nvPicPr>
              <p:cNvPr id="3109" name="Graphic 3108" descr="Heart with pulse outline">
                <a:extLst>
                  <a:ext uri="{FF2B5EF4-FFF2-40B4-BE49-F238E27FC236}">
                    <a16:creationId xmlns:a16="http://schemas.microsoft.com/office/drawing/2014/main" id="{F7625B90-D960-84D2-146E-49104876A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3810360" y="2780087"/>
                <a:ext cx="330813" cy="330813"/>
              </a:xfrm>
              <a:prstGeom prst="rect">
                <a:avLst/>
              </a:prstGeom>
            </p:spPr>
          </p:pic>
        </p:grpSp>
        <p:pic>
          <p:nvPicPr>
            <p:cNvPr id="3107" name="Graphic 3106" descr="Watch outline">
              <a:extLst>
                <a:ext uri="{FF2B5EF4-FFF2-40B4-BE49-F238E27FC236}">
                  <a16:creationId xmlns:a16="http://schemas.microsoft.com/office/drawing/2014/main" id="{CA1280B5-383F-271D-CB72-3E1DAFEB9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47147" y="1515631"/>
              <a:ext cx="314573" cy="31457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B0ECF40-22E4-1856-F8CA-21550E3867A3}"/>
              </a:ext>
            </a:extLst>
          </p:cNvPr>
          <p:cNvGrpSpPr/>
          <p:nvPr/>
        </p:nvGrpSpPr>
        <p:grpSpPr>
          <a:xfrm>
            <a:off x="1271399" y="4925667"/>
            <a:ext cx="7941165" cy="1887186"/>
            <a:chOff x="1271399" y="4925667"/>
            <a:chExt cx="7941165" cy="188718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638B041-DEE3-B98E-3D30-DEA7D37513A1}"/>
                </a:ext>
              </a:extLst>
            </p:cNvPr>
            <p:cNvGrpSpPr/>
            <p:nvPr/>
          </p:nvGrpSpPr>
          <p:grpSpPr>
            <a:xfrm>
              <a:off x="1271399" y="4925667"/>
              <a:ext cx="7941165" cy="1887186"/>
              <a:chOff x="1271399" y="4925667"/>
              <a:chExt cx="7941165" cy="1887186"/>
            </a:xfrm>
          </p:grpSpPr>
          <p:pic>
            <p:nvPicPr>
              <p:cNvPr id="3084" name="Graphic 3083" descr="House with solid fill">
                <a:extLst>
                  <a:ext uri="{FF2B5EF4-FFF2-40B4-BE49-F238E27FC236}">
                    <a16:creationId xmlns:a16="http://schemas.microsoft.com/office/drawing/2014/main" id="{408D493D-3275-5E31-B8D7-189B05230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1399" y="5491374"/>
                <a:ext cx="746468" cy="746468"/>
              </a:xfrm>
              <a:prstGeom prst="rect">
                <a:avLst/>
              </a:prstGeom>
            </p:spPr>
          </p:pic>
          <p:pic>
            <p:nvPicPr>
              <p:cNvPr id="3085" name="Graphic 3084" descr="Group outline">
                <a:extLst>
                  <a:ext uri="{FF2B5EF4-FFF2-40B4-BE49-F238E27FC236}">
                    <a16:creationId xmlns:a16="http://schemas.microsoft.com/office/drawing/2014/main" id="{99364397-2C9E-9332-4D23-77B8AF2AD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8296"/>
              <a:stretch>
                <a:fillRect/>
              </a:stretch>
            </p:blipFill>
            <p:spPr>
              <a:xfrm>
                <a:off x="1810565" y="5593653"/>
                <a:ext cx="874213" cy="1219200"/>
              </a:xfrm>
              <a:prstGeom prst="rect">
                <a:avLst/>
              </a:prstGeom>
            </p:spPr>
          </p:pic>
          <p:cxnSp>
            <p:nvCxnSpPr>
              <p:cNvPr id="3086" name="Straight Connector 3085">
                <a:extLst>
                  <a:ext uri="{FF2B5EF4-FFF2-40B4-BE49-F238E27FC236}">
                    <a16:creationId xmlns:a16="http://schemas.microsoft.com/office/drawing/2014/main" id="{C2AE5F0E-A939-D089-9D99-EBC515CD84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3599" y="6220407"/>
                <a:ext cx="476335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9" name="Rounded Rectangle 3088">
                <a:extLst>
                  <a:ext uri="{FF2B5EF4-FFF2-40B4-BE49-F238E27FC236}">
                    <a16:creationId xmlns:a16="http://schemas.microsoft.com/office/drawing/2014/main" id="{EA5AB866-D61B-7B9D-0E60-1E38154EE097}"/>
                  </a:ext>
                </a:extLst>
              </p:cNvPr>
              <p:cNvSpPr/>
              <p:nvPr/>
            </p:nvSpPr>
            <p:spPr>
              <a:xfrm>
                <a:off x="3200319" y="5763364"/>
                <a:ext cx="6012245" cy="879779"/>
              </a:xfrm>
              <a:prstGeom prst="roundRect">
                <a:avLst>
                  <a:gd name="adj" fmla="val 5618"/>
                </a:avLst>
              </a:prstGeom>
              <a:noFill/>
              <a:ln w="25400" cap="flat" cmpd="sng" algn="ctr">
                <a:solidFill>
                  <a:srgbClr val="002060"/>
                </a:solidFill>
                <a:prstDash val="solid"/>
              </a:ln>
              <a:effectLst/>
            </p:spPr>
            <p:txBody>
              <a:bodyPr lIns="0" rIns="0" rtlCol="0" anchor="t"/>
              <a:lstStyle/>
              <a:p>
                <a:pPr algn="ctr" defTabSz="1625275">
                  <a:defRPr/>
                </a:pPr>
                <a:r>
                  <a:rPr lang="en-GB" sz="1400" b="1" kern="0" dirty="0">
                    <a:solidFill>
                      <a:srgbClr val="FFFFFF"/>
                    </a:solidFill>
                    <a:latin typeface="Calibri"/>
                    <a:cs typeface="Arial" panose="020B0604020202020204" pitchFamily="34" charset="0"/>
                  </a:rPr>
                  <a:t>Assessments</a:t>
                </a:r>
              </a:p>
            </p:txBody>
          </p:sp>
          <p:sp>
            <p:nvSpPr>
              <p:cNvPr id="3090" name="TextBox 3089">
                <a:extLst>
                  <a:ext uri="{FF2B5EF4-FFF2-40B4-BE49-F238E27FC236}">
                    <a16:creationId xmlns:a16="http://schemas.microsoft.com/office/drawing/2014/main" id="{C7D870CE-08FC-D00E-84DA-BC2727376182}"/>
                  </a:ext>
                </a:extLst>
              </p:cNvPr>
              <p:cNvSpPr txBox="1"/>
              <p:nvPr/>
            </p:nvSpPr>
            <p:spPr>
              <a:xfrm>
                <a:off x="5482511" y="5610733"/>
                <a:ext cx="1369722" cy="328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txBody>
              <a:bodyPr wrap="none" lIns="48000" tIns="0" rIns="48000" bIns="0" rtlCol="0">
                <a:spAutoFit/>
              </a:bodyPr>
              <a:lstStyle/>
              <a:p>
                <a:pPr defTabSz="914377"/>
                <a:r>
                  <a:rPr lang="en-GB" sz="2133" b="1" dirty="0">
                    <a:solidFill>
                      <a:srgbClr val="000000"/>
                    </a:solidFill>
                    <a:latin typeface="Arial" panose="020B0604020202020204"/>
                  </a:rPr>
                  <a:t>Follow up</a:t>
                </a:r>
              </a:p>
            </p:txBody>
          </p:sp>
          <p:cxnSp>
            <p:nvCxnSpPr>
              <p:cNvPr id="3091" name="Straight Arrow Connector 3090">
                <a:extLst>
                  <a:ext uri="{FF2B5EF4-FFF2-40B4-BE49-F238E27FC236}">
                    <a16:creationId xmlns:a16="http://schemas.microsoft.com/office/drawing/2014/main" id="{20D115F7-8A4E-8B61-6B2B-6BBC10A3EE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4560" y="4925667"/>
                <a:ext cx="8025" cy="7176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3" name="TextBox 3092">
                <a:extLst>
                  <a:ext uri="{FF2B5EF4-FFF2-40B4-BE49-F238E27FC236}">
                    <a16:creationId xmlns:a16="http://schemas.microsoft.com/office/drawing/2014/main" id="{FE606DFF-1232-61DA-4FC4-EA032230500D}"/>
                  </a:ext>
                </a:extLst>
              </p:cNvPr>
              <p:cNvSpPr txBox="1"/>
              <p:nvPr/>
            </p:nvSpPr>
            <p:spPr>
              <a:xfrm>
                <a:off x="4989990" y="6003083"/>
                <a:ext cx="2235217" cy="612000"/>
              </a:xfrm>
              <a:prstGeom prst="roundRect">
                <a:avLst/>
              </a:prstGeom>
              <a:solidFill>
                <a:srgbClr val="002060">
                  <a:alpha val="32157"/>
                </a:srgbClr>
              </a:solidFill>
            </p:spPr>
            <p:txBody>
              <a:bodyPr wrap="square" lIns="48000" tIns="48000" rIns="48000" bIns="48000" rtlCol="0">
                <a:spAutoFit/>
              </a:bodyPr>
              <a:lstStyle/>
              <a:p>
                <a:pPr defTabSz="914377"/>
                <a:endParaRPr lang="en-GB" dirty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pic>
            <p:nvPicPr>
              <p:cNvPr id="3094" name="Graphic 3093" descr="Stethoscope outline">
                <a:extLst>
                  <a:ext uri="{FF2B5EF4-FFF2-40B4-BE49-F238E27FC236}">
                    <a16:creationId xmlns:a16="http://schemas.microsoft.com/office/drawing/2014/main" id="{A2E25C6F-96DE-3EAD-152E-643D59B11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133120" y="5978754"/>
                <a:ext cx="566573" cy="566573"/>
              </a:xfrm>
              <a:prstGeom prst="rect">
                <a:avLst/>
              </a:prstGeom>
            </p:spPr>
          </p:pic>
          <p:pic>
            <p:nvPicPr>
              <p:cNvPr id="3095" name="Graphic 3094" descr="Clipboard Partially Ticked outline">
                <a:extLst>
                  <a:ext uri="{FF2B5EF4-FFF2-40B4-BE49-F238E27FC236}">
                    <a16:creationId xmlns:a16="http://schemas.microsoft.com/office/drawing/2014/main" id="{2A1A7A22-5C93-24AC-EC4F-A56A0B3BF8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446803" y="5944497"/>
                <a:ext cx="698647" cy="698647"/>
              </a:xfrm>
              <a:prstGeom prst="rect">
                <a:avLst/>
              </a:prstGeom>
            </p:spPr>
          </p:pic>
          <p:pic>
            <p:nvPicPr>
              <p:cNvPr id="3096" name="Graphic 3095" descr="Medical outline">
                <a:extLst>
                  <a:ext uri="{FF2B5EF4-FFF2-40B4-BE49-F238E27FC236}">
                    <a16:creationId xmlns:a16="http://schemas.microsoft.com/office/drawing/2014/main" id="{4093F820-DCC2-B17E-358B-154DA59078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5829372" y="6027415"/>
                <a:ext cx="576000" cy="576000"/>
              </a:xfrm>
              <a:prstGeom prst="rect">
                <a:avLst/>
              </a:prstGeom>
            </p:spPr>
          </p:pic>
          <p:sp>
            <p:nvSpPr>
              <p:cNvPr id="3097" name="TextBox 3096">
                <a:extLst>
                  <a:ext uri="{FF2B5EF4-FFF2-40B4-BE49-F238E27FC236}">
                    <a16:creationId xmlns:a16="http://schemas.microsoft.com/office/drawing/2014/main" id="{5AA9CCB5-6E8A-01EE-0697-05FF90E160E7}"/>
                  </a:ext>
                </a:extLst>
              </p:cNvPr>
              <p:cNvSpPr txBox="1"/>
              <p:nvPr/>
            </p:nvSpPr>
            <p:spPr>
              <a:xfrm>
                <a:off x="1887367" y="5095743"/>
                <a:ext cx="9109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377"/>
                <a:r>
                  <a:rPr lang="en-GB" sz="1400" dirty="0">
                    <a:solidFill>
                      <a:srgbClr val="000000"/>
                    </a:solidFill>
                    <a:latin typeface="Arial" panose="020B0604020202020204"/>
                  </a:rPr>
                  <a:t>30 days</a:t>
                </a:r>
              </a:p>
            </p:txBody>
          </p:sp>
        </p:grpSp>
        <p:sp>
          <p:nvSpPr>
            <p:cNvPr id="3087" name="Oval 3086">
              <a:extLst>
                <a:ext uri="{FF2B5EF4-FFF2-40B4-BE49-F238E27FC236}">
                  <a16:creationId xmlns:a16="http://schemas.microsoft.com/office/drawing/2014/main" id="{2D7B2069-7114-A878-51DA-ED947B612DE2}"/>
                </a:ext>
              </a:extLst>
            </p:cNvPr>
            <p:cNvSpPr/>
            <p:nvPr/>
          </p:nvSpPr>
          <p:spPr>
            <a:xfrm>
              <a:off x="2832695" y="6064731"/>
              <a:ext cx="287867" cy="3318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r>
                <a:rPr lang="en-GB" dirty="0">
                  <a:solidFill>
                    <a:srgbClr val="000000"/>
                  </a:solidFill>
                  <a:latin typeface="Arial" panose="020B0604020202020204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811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CCE9-3D24-451B-1D6B-990770B7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F96F7E8-9AEF-0125-2698-FE6AE0748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849741" y="5024720"/>
            <a:ext cx="16174415" cy="44435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3C5E6E5-E495-5B3D-084A-1BC4F4D38E29}"/>
              </a:ext>
            </a:extLst>
          </p:cNvPr>
          <p:cNvSpPr/>
          <p:nvPr/>
        </p:nvSpPr>
        <p:spPr>
          <a:xfrm>
            <a:off x="0" y="0"/>
            <a:ext cx="12192000" cy="1303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AB8B69-26B0-D463-CF70-670F01501175}"/>
              </a:ext>
            </a:extLst>
          </p:cNvPr>
          <p:cNvSpPr txBox="1">
            <a:spLocks/>
          </p:cNvSpPr>
          <p:nvPr/>
        </p:nvSpPr>
        <p:spPr>
          <a:xfrm>
            <a:off x="278848" y="49140"/>
            <a:ext cx="11202464" cy="1325563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rgbClr val="184F9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20A4E-7FF1-A2DA-696D-F0E5FF9CF43F}"/>
              </a:ext>
            </a:extLst>
          </p:cNvPr>
          <p:cNvSpPr txBox="1"/>
          <p:nvPr/>
        </p:nvSpPr>
        <p:spPr>
          <a:xfrm>
            <a:off x="583647" y="1833280"/>
            <a:ext cx="11202464" cy="4154984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UK has some of the worst asthma outcomes among high-income countries</a:t>
            </a: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GB" sz="24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Current monitoring is inadequate</a:t>
            </a: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GB" sz="24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184F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will e</a:t>
            </a: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stablish new digital signatures of asthma</a:t>
            </a: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GB" sz="2400" b="1" i="0" strike="noStrike" kern="1200" cap="none" spc="0" normalizeH="0" baseline="0" noProof="0" dirty="0">
              <a:ln>
                <a:noFill/>
              </a:ln>
              <a:solidFill>
                <a:srgbClr val="184F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184F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will minimise </a:t>
            </a: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high-risk period after discharge…</a:t>
            </a:r>
          </a:p>
          <a:p>
            <a:pPr marL="223838" marR="0" lvl="0" indent="-223838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GB" sz="24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GB" sz="2400" b="1" i="0" strike="noStrike" kern="1200" cap="none" spc="0" normalizeH="0" baseline="0" noProof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						… </a:t>
            </a: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pave the way for proactive monitoring.</a:t>
            </a:r>
          </a:p>
          <a:p>
            <a:pPr marR="0" lvl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rgbClr val="184F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endParaRPr lang="en-GB" sz="2400" b="1" dirty="0">
              <a:solidFill>
                <a:srgbClr val="184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E6CCCA-A2E7-2D68-3B88-92CDE702A1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 r:link="rId6"/>
              </a:ext>
            </a:extLst>
          </a:blip>
          <a:stretch>
            <a:fillRect/>
          </a:stretch>
        </p:blipFill>
        <p:spPr>
          <a:xfrm>
            <a:off x="10671641" y="6166772"/>
            <a:ext cx="1306065" cy="457873"/>
          </a:xfrm>
          <a:prstGeom prst="rect">
            <a:avLst/>
          </a:prstGeom>
        </p:spPr>
      </p:pic>
      <p:pic>
        <p:nvPicPr>
          <p:cNvPr id="6" name="Picture 5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086ED342-E666-77DD-AFC2-5611CB7569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958" y="6110881"/>
            <a:ext cx="2766683" cy="63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6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USHER colour palette">
      <a:dk1>
        <a:srgbClr val="000000"/>
      </a:dk1>
      <a:lt1>
        <a:srgbClr val="FFFFFF"/>
      </a:lt1>
      <a:dk2>
        <a:srgbClr val="636669"/>
      </a:dk2>
      <a:lt2>
        <a:srgbClr val="E7E6E6"/>
      </a:lt2>
      <a:accent1>
        <a:srgbClr val="D50032"/>
      </a:accent1>
      <a:accent2>
        <a:srgbClr val="CA5F14"/>
      </a:accent2>
      <a:accent3>
        <a:srgbClr val="008EA9"/>
      </a:accent3>
      <a:accent4>
        <a:srgbClr val="F2A900"/>
      </a:accent4>
      <a:accent5>
        <a:srgbClr val="006172"/>
      </a:accent5>
      <a:accent6>
        <a:srgbClr val="BABC15"/>
      </a:accent6>
      <a:hlink>
        <a:srgbClr val="2CCCD3"/>
      </a:hlink>
      <a:folHlink>
        <a:srgbClr val="94B7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0BD19E2-4120-CF4C-8D10-DF6FFAD747B3}" vid="{2B824D70-5234-3B47-9D81-596E67F3B0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0c77d1-93ed-4f71-8f4c-7998a9530f63">
      <Terms xmlns="http://schemas.microsoft.com/office/infopath/2007/PartnerControls"/>
    </lcf76f155ced4ddcb4097134ff3c332f>
    <TaxCatchAll xmlns="e126fe4f-ea1a-43f6-ac45-2d71a1d6365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0962CCB8CA64AB4DAF2C8B7389621" ma:contentTypeVersion="14" ma:contentTypeDescription="Create a new document." ma:contentTypeScope="" ma:versionID="7e81367a4717fa04ef67bc42e1863c9a">
  <xsd:schema xmlns:xsd="http://www.w3.org/2001/XMLSchema" xmlns:xs="http://www.w3.org/2001/XMLSchema" xmlns:p="http://schemas.microsoft.com/office/2006/metadata/properties" xmlns:ns2="f90c77d1-93ed-4f71-8f4c-7998a9530f63" xmlns:ns3="e126fe4f-ea1a-43f6-ac45-2d71a1d6365f" targetNamespace="http://schemas.microsoft.com/office/2006/metadata/properties" ma:root="true" ma:fieldsID="a5366e670cefc32800cc9fb71569c301" ns2:_="" ns3:_="">
    <xsd:import namespace="f90c77d1-93ed-4f71-8f4c-7998a9530f63"/>
    <xsd:import namespace="e126fe4f-ea1a-43f6-ac45-2d71a1d63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c77d1-93ed-4f71-8f4c-7998a9530f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e4f-ea1a-43f6-ac45-2d71a1d6365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469578-d4c4-43e6-9f3e-6d981ab352b3}" ma:internalName="TaxCatchAll" ma:showField="CatchAllData" ma:web="e126fe4f-ea1a-43f6-ac45-2d71a1d63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B36459-3526-4DF8-AD2F-6C6C71DEE6DD}">
  <ds:schemaRefs>
    <ds:schemaRef ds:uri="http://schemas.microsoft.com/office/2006/metadata/properties"/>
    <ds:schemaRef ds:uri="http://schemas.microsoft.com/office/infopath/2007/PartnerControls"/>
    <ds:schemaRef ds:uri="f90c77d1-93ed-4f71-8f4c-7998a9530f63"/>
    <ds:schemaRef ds:uri="e126fe4f-ea1a-43f6-ac45-2d71a1d6365f"/>
  </ds:schemaRefs>
</ds:datastoreItem>
</file>

<file path=customXml/itemProps2.xml><?xml version="1.0" encoding="utf-8"?>
<ds:datastoreItem xmlns:ds="http://schemas.openxmlformats.org/officeDocument/2006/customXml" ds:itemID="{B0036CC7-633C-405C-98B0-1624B59FA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551285-DAF1-40A3-943E-68630C9288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c77d1-93ed-4f71-8f4c-7998a9530f63"/>
    <ds:schemaRef ds:uri="e126fe4f-ea1a-43f6-ac45-2d71a1d636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10326</TotalTime>
  <Words>250</Words>
  <Application>Microsoft Macintosh PowerPoint</Application>
  <PresentationFormat>Widescreen</PresentationFormat>
  <Paragraphs>73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Effra Medium</vt:lpstr>
      <vt:lpstr>Office Theme</vt:lpstr>
      <vt:lpstr>1_Office Theme</vt:lpstr>
      <vt:lpstr>PowerPoint Presentation</vt:lpstr>
      <vt:lpstr>PowerPoint Presentation</vt:lpstr>
      <vt:lpstr>Why is this important? </vt:lpstr>
      <vt:lpstr>Why is this important? </vt:lpstr>
      <vt:lpstr>Why is this important?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Barry Kinder</dc:creator>
  <cp:lastModifiedBy>Luke Daines</cp:lastModifiedBy>
  <cp:revision>35</cp:revision>
  <dcterms:created xsi:type="dcterms:W3CDTF">2024-11-04T11:23:20Z</dcterms:created>
  <dcterms:modified xsi:type="dcterms:W3CDTF">2026-02-04T17:26:51Z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0x0101002240962CCB8CA64AB4DAF2C8B7389621</vt:lpwstr>
  </property>
  <property fmtid="{D5CDD505-2E9C-101B-9397-08002B2CF9AE}" pid="3" name="MediaServiceImageTags">
    <vt:lpwstr/>
  </property>
</Properties>
</file>